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4121" autoAdjust="0"/>
  </p:normalViewPr>
  <p:slideViewPr>
    <p:cSldViewPr snapToGrid="0">
      <p:cViewPr varScale="1">
        <p:scale>
          <a:sx n="70" d="100"/>
          <a:sy n="70" d="100"/>
        </p:scale>
        <p:origin x="84" y="2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Tampungan Tanggal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F170E5-C17F-4230-ABEE-0763ED288853}" type="datetimeFigureOut">
              <a:rPr lang="id-ID" smtClean="0"/>
              <a:t>31/07/2026</a:t>
            </a:fld>
            <a:endParaRPr lang="id-ID"/>
          </a:p>
        </p:txBody>
      </p:sp>
      <p:sp>
        <p:nvSpPr>
          <p:cNvPr id="4" name="Tampungan Gambar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Tampungan Catatan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6" name="Tampungan Ka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Tampungan Nomor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EEB47B-003E-47F6-9D40-8DF72E80E2C6}" type="slidenum">
              <a:rPr lang="id-ID" smtClean="0"/>
              <a:t>‹#›</a:t>
            </a:fld>
            <a:endParaRPr lang="id-ID"/>
          </a:p>
        </p:txBody>
      </p:sp>
    </p:spTree>
    <p:extLst>
      <p:ext uri="{BB962C8B-B14F-4D97-AF65-F5344CB8AC3E}">
        <p14:creationId xmlns:p14="http://schemas.microsoft.com/office/powerpoint/2010/main" val="590808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r>
              <a:rPr lang="id-ID" dirty="0"/>
              <a:t>Proyek</a:t>
            </a:r>
            <a:r>
              <a:rPr lang="en-US" dirty="0"/>
              <a:t> </a:t>
            </a:r>
            <a:r>
              <a:rPr lang="id-ID" dirty="0"/>
              <a:t> ini bertujuan memecahkan dilema antara kepraktisan pengukuran beban kognitif dan privasi data pengguna. Kita akan membangun sistem yang mampu membaca tanda stres kognitif langsung dari </a:t>
            </a:r>
            <a:r>
              <a:rPr lang="id-ID" dirty="0" err="1"/>
              <a:t>webcam</a:t>
            </a:r>
            <a:r>
              <a:rPr lang="id-ID" dirty="0"/>
              <a:t> standar tanpa mengirimkan satu </a:t>
            </a:r>
            <a:r>
              <a:rPr lang="id-ID" dirty="0" err="1"/>
              <a:t>frame</a:t>
            </a:r>
            <a:r>
              <a:rPr lang="id-ID" dirty="0"/>
              <a:t> video pun ke server."</a:t>
            </a:r>
          </a:p>
        </p:txBody>
      </p:sp>
      <p:sp>
        <p:nvSpPr>
          <p:cNvPr id="4" name="Tampungan Nomor Slide 3"/>
          <p:cNvSpPr>
            <a:spLocks noGrp="1"/>
          </p:cNvSpPr>
          <p:nvPr>
            <p:ph type="sldNum" sz="quarter" idx="5"/>
          </p:nvPr>
        </p:nvSpPr>
        <p:spPr/>
        <p:txBody>
          <a:bodyPr/>
          <a:lstStyle/>
          <a:p>
            <a:fld id="{C6EEB47B-003E-47F6-9D40-8DF72E80E2C6}" type="slidenum">
              <a:rPr lang="id-ID" smtClean="0"/>
              <a:t>2</a:t>
            </a:fld>
            <a:endParaRPr lang="id-ID"/>
          </a:p>
        </p:txBody>
      </p:sp>
    </p:spTree>
    <p:extLst>
      <p:ext uri="{BB962C8B-B14F-4D97-AF65-F5344CB8AC3E}">
        <p14:creationId xmlns:p14="http://schemas.microsoft.com/office/powerpoint/2010/main" val="2482786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r>
              <a:rPr lang="id-ID" dirty="0"/>
              <a:t>Luaran utama kita adalah sebuah aplikasi web adaptif. Di dalamnya terdapat model AI kecil yang bekerja di latar belakang browser untuk mengamati pola mata, dan langsung mengubah tampilan web secara otomatis agar pengguna tidak stres."</a:t>
            </a:r>
          </a:p>
        </p:txBody>
      </p:sp>
      <p:sp>
        <p:nvSpPr>
          <p:cNvPr id="4" name="Tampungan Nomor Slide 3"/>
          <p:cNvSpPr>
            <a:spLocks noGrp="1"/>
          </p:cNvSpPr>
          <p:nvPr>
            <p:ph type="sldNum" sz="quarter" idx="5"/>
          </p:nvPr>
        </p:nvSpPr>
        <p:spPr/>
        <p:txBody>
          <a:bodyPr/>
          <a:lstStyle/>
          <a:p>
            <a:fld id="{C6EEB47B-003E-47F6-9D40-8DF72E80E2C6}" type="slidenum">
              <a:rPr lang="id-ID" smtClean="0"/>
              <a:t>3</a:t>
            </a:fld>
            <a:endParaRPr lang="id-ID"/>
          </a:p>
        </p:txBody>
      </p:sp>
    </p:spTree>
    <p:extLst>
      <p:ext uri="{BB962C8B-B14F-4D97-AF65-F5344CB8AC3E}">
        <p14:creationId xmlns:p14="http://schemas.microsoft.com/office/powerpoint/2010/main" val="3659195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r>
              <a:rPr lang="id-ID" dirty="0"/>
              <a:t>Metode </a:t>
            </a:r>
            <a:r>
              <a:rPr lang="id-ID" dirty="0" err="1"/>
              <a:t>Within-Subjects</a:t>
            </a:r>
            <a:r>
              <a:rPr lang="id-ID" dirty="0"/>
              <a:t> berarti seluruh partisipan akan mencoba ketiga skenario tersebut. Pengacakan dengan Latin </a:t>
            </a:r>
            <a:r>
              <a:rPr lang="id-ID" dirty="0" err="1"/>
              <a:t>Square</a:t>
            </a:r>
            <a:r>
              <a:rPr lang="id-ID" dirty="0"/>
              <a:t> wajib diterapkan untuk menghindari kelelahan bias pada partisipan</a:t>
            </a:r>
          </a:p>
        </p:txBody>
      </p:sp>
      <p:sp>
        <p:nvSpPr>
          <p:cNvPr id="4" name="Tampungan Nomor Slide 3"/>
          <p:cNvSpPr>
            <a:spLocks noGrp="1"/>
          </p:cNvSpPr>
          <p:nvPr>
            <p:ph type="sldNum" sz="quarter" idx="5"/>
          </p:nvPr>
        </p:nvSpPr>
        <p:spPr/>
        <p:txBody>
          <a:bodyPr/>
          <a:lstStyle/>
          <a:p>
            <a:fld id="{C6EEB47B-003E-47F6-9D40-8DF72E80E2C6}" type="slidenum">
              <a:rPr lang="id-ID" smtClean="0"/>
              <a:t>4</a:t>
            </a:fld>
            <a:endParaRPr lang="id-ID"/>
          </a:p>
        </p:txBody>
      </p:sp>
    </p:spTree>
    <p:extLst>
      <p:ext uri="{BB962C8B-B14F-4D97-AF65-F5344CB8AC3E}">
        <p14:creationId xmlns:p14="http://schemas.microsoft.com/office/powerpoint/2010/main" val="1014874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r>
              <a:rPr lang="id-ID" dirty="0"/>
              <a:t>Pekerjaan </a:t>
            </a:r>
            <a:r>
              <a:rPr lang="id-ID" dirty="0" err="1"/>
              <a:t>coding</a:t>
            </a:r>
            <a:r>
              <a:rPr lang="id-ID" dirty="0"/>
              <a:t> Anda akan berfokus di sisi </a:t>
            </a:r>
            <a:r>
              <a:rPr lang="id-ID" dirty="0" err="1"/>
              <a:t>frontend</a:t>
            </a:r>
            <a:r>
              <a:rPr lang="id-ID" dirty="0"/>
              <a:t> menggunakan </a:t>
            </a:r>
            <a:r>
              <a:rPr lang="id-ID" dirty="0" err="1"/>
              <a:t>JavaScript</a:t>
            </a:r>
            <a:r>
              <a:rPr lang="id-ID" dirty="0"/>
              <a:t> murni atau </a:t>
            </a:r>
            <a:r>
              <a:rPr lang="id-ID" dirty="0" err="1"/>
              <a:t>framework</a:t>
            </a:r>
            <a:r>
              <a:rPr lang="id-ID" dirty="0"/>
              <a:t> yang sesuai. Pastikan </a:t>
            </a:r>
            <a:r>
              <a:rPr lang="id-ID" dirty="0" err="1"/>
              <a:t>pipeline</a:t>
            </a:r>
            <a:r>
              <a:rPr lang="id-ID" dirty="0"/>
              <a:t> dari </a:t>
            </a:r>
            <a:r>
              <a:rPr lang="id-ID" dirty="0" err="1"/>
              <a:t>webcam</a:t>
            </a:r>
            <a:r>
              <a:rPr lang="id-ID" dirty="0"/>
              <a:t> masuk ke </a:t>
            </a:r>
            <a:r>
              <a:rPr lang="id-ID" dirty="0" err="1"/>
              <a:t>MediaPipe</a:t>
            </a:r>
            <a:r>
              <a:rPr lang="id-ID" dirty="0"/>
              <a:t> </a:t>
            </a:r>
            <a:r>
              <a:rPr lang="id-ID" dirty="0" err="1"/>
              <a:t>Wasm</a:t>
            </a:r>
            <a:r>
              <a:rPr lang="id-ID" dirty="0"/>
              <a:t>, lalu hitung EAR-</a:t>
            </a:r>
            <a:r>
              <a:rPr lang="id-ID" dirty="0" err="1"/>
              <a:t>nya</a:t>
            </a:r>
            <a:r>
              <a:rPr lang="id-ID" dirty="0"/>
              <a:t> secara lokal</a:t>
            </a:r>
          </a:p>
        </p:txBody>
      </p:sp>
      <p:sp>
        <p:nvSpPr>
          <p:cNvPr id="4" name="Tampungan Nomor Slide 3"/>
          <p:cNvSpPr>
            <a:spLocks noGrp="1"/>
          </p:cNvSpPr>
          <p:nvPr>
            <p:ph type="sldNum" sz="quarter" idx="5"/>
          </p:nvPr>
        </p:nvSpPr>
        <p:spPr/>
        <p:txBody>
          <a:bodyPr/>
          <a:lstStyle/>
          <a:p>
            <a:fld id="{C6EEB47B-003E-47F6-9D40-8DF72E80E2C6}" type="slidenum">
              <a:rPr lang="id-ID" smtClean="0"/>
              <a:t>5</a:t>
            </a:fld>
            <a:endParaRPr lang="id-ID"/>
          </a:p>
        </p:txBody>
      </p:sp>
    </p:spTree>
    <p:extLst>
      <p:ext uri="{BB962C8B-B14F-4D97-AF65-F5344CB8AC3E}">
        <p14:creationId xmlns:p14="http://schemas.microsoft.com/office/powerpoint/2010/main" val="868694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r>
              <a:rPr lang="en-US" dirty="0"/>
              <a:t>T</a:t>
            </a:r>
            <a:r>
              <a:rPr lang="id-ID" dirty="0" err="1"/>
              <a:t>ugas</a:t>
            </a:r>
            <a:r>
              <a:rPr lang="id-ID" dirty="0"/>
              <a:t> akhir kalian setelah </a:t>
            </a:r>
            <a:r>
              <a:rPr lang="id-ID" dirty="0" err="1"/>
              <a:t>coding</a:t>
            </a:r>
            <a:r>
              <a:rPr lang="id-ID" dirty="0"/>
              <a:t> selesai adalah mengawal jalannya eksperimen terhadap 30 partisipan. Pastikan data log waktu tersimpan dengan benar di </a:t>
            </a:r>
            <a:r>
              <a:rPr lang="id-ID" dirty="0" err="1"/>
              <a:t>database</a:t>
            </a:r>
            <a:r>
              <a:rPr lang="id-ID" dirty="0"/>
              <a:t> lokal, dan ingatkan partisipan untuk mengisi kuesioner RTLX digital pasca-skenario</a:t>
            </a:r>
          </a:p>
        </p:txBody>
      </p:sp>
      <p:sp>
        <p:nvSpPr>
          <p:cNvPr id="4" name="Tampungan Nomor Slide 3"/>
          <p:cNvSpPr>
            <a:spLocks noGrp="1"/>
          </p:cNvSpPr>
          <p:nvPr>
            <p:ph type="sldNum" sz="quarter" idx="5"/>
          </p:nvPr>
        </p:nvSpPr>
        <p:spPr/>
        <p:txBody>
          <a:bodyPr/>
          <a:lstStyle/>
          <a:p>
            <a:fld id="{C6EEB47B-003E-47F6-9D40-8DF72E80E2C6}" type="slidenum">
              <a:rPr lang="id-ID" smtClean="0"/>
              <a:t>8</a:t>
            </a:fld>
            <a:endParaRPr lang="id-ID"/>
          </a:p>
        </p:txBody>
      </p:sp>
    </p:spTree>
    <p:extLst>
      <p:ext uri="{BB962C8B-B14F-4D97-AF65-F5344CB8AC3E}">
        <p14:creationId xmlns:p14="http://schemas.microsoft.com/office/powerpoint/2010/main" val="3377596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Judu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A23F2EF-BC2B-E703-EA23-F36417B81449}"/>
              </a:ext>
            </a:extLst>
          </p:cNvPr>
          <p:cNvSpPr>
            <a:spLocks noGrp="1"/>
          </p:cNvSpPr>
          <p:nvPr>
            <p:ph type="ctrTitle"/>
          </p:nvPr>
        </p:nvSpPr>
        <p:spPr>
          <a:xfrm>
            <a:off x="1524000" y="1122363"/>
            <a:ext cx="9144000" cy="2387600"/>
          </a:xfrm>
        </p:spPr>
        <p:txBody>
          <a:bodyPr anchor="b"/>
          <a:lstStyle>
            <a:lvl1pPr algn="ctr">
              <a:defRPr sz="6000"/>
            </a:lvl1pPr>
          </a:lstStyle>
          <a:p>
            <a:r>
              <a:rPr lang="id-ID"/>
              <a:t>Klik untuk mengedit gaya judul Master</a:t>
            </a:r>
          </a:p>
        </p:txBody>
      </p:sp>
      <p:sp>
        <p:nvSpPr>
          <p:cNvPr id="3" name="Subjudul 2">
            <a:extLst>
              <a:ext uri="{FF2B5EF4-FFF2-40B4-BE49-F238E27FC236}">
                <a16:creationId xmlns:a16="http://schemas.microsoft.com/office/drawing/2014/main" id="{D50970BD-BCA2-3911-AF95-5A93B5C1F4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Klik untuk mengedit gaya subjudul Master</a:t>
            </a:r>
          </a:p>
        </p:txBody>
      </p:sp>
      <p:sp>
        <p:nvSpPr>
          <p:cNvPr id="4" name="Tampungan Tanggal 3">
            <a:extLst>
              <a:ext uri="{FF2B5EF4-FFF2-40B4-BE49-F238E27FC236}">
                <a16:creationId xmlns:a16="http://schemas.microsoft.com/office/drawing/2014/main" id="{3BCCB35C-7B17-9C85-FBA0-E547D5D84E87}"/>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5" name="Tampungan Kaki 4">
            <a:extLst>
              <a:ext uri="{FF2B5EF4-FFF2-40B4-BE49-F238E27FC236}">
                <a16:creationId xmlns:a16="http://schemas.microsoft.com/office/drawing/2014/main" id="{D5E5D2FE-004D-E0C4-43B9-3BE58F133CD1}"/>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E8B05D2F-4AF3-9319-C941-0E79A0D52CF8}"/>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1415708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DE16B78-DFF0-38D6-C62D-91DA743B76B2}"/>
              </a:ext>
            </a:extLst>
          </p:cNvPr>
          <p:cNvSpPr>
            <a:spLocks noGrp="1"/>
          </p:cNvSpPr>
          <p:nvPr>
            <p:ph type="title"/>
          </p:nvPr>
        </p:nvSpPr>
        <p:spPr/>
        <p:txBody>
          <a:bodyPr/>
          <a:lstStyle/>
          <a:p>
            <a:r>
              <a:rPr lang="id-ID"/>
              <a:t>Klik untuk mengedit gaya judul Master</a:t>
            </a:r>
          </a:p>
        </p:txBody>
      </p:sp>
      <p:sp>
        <p:nvSpPr>
          <p:cNvPr id="3" name="Tampungan Konten 2">
            <a:extLst>
              <a:ext uri="{FF2B5EF4-FFF2-40B4-BE49-F238E27FC236}">
                <a16:creationId xmlns:a16="http://schemas.microsoft.com/office/drawing/2014/main" id="{8911BFFA-AFA3-F4E3-3E2B-C43423AC12B5}"/>
              </a:ext>
            </a:extLst>
          </p:cNvPr>
          <p:cNvSpPr>
            <a:spLocks noGrp="1"/>
          </p:cNvSpPr>
          <p:nvPr>
            <p:ph idx="1"/>
          </p:nvPr>
        </p:nvSpPr>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590C43FB-16B0-3023-536C-B6DFDA12C5C1}"/>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5" name="Tampungan Kaki 4">
            <a:extLst>
              <a:ext uri="{FF2B5EF4-FFF2-40B4-BE49-F238E27FC236}">
                <a16:creationId xmlns:a16="http://schemas.microsoft.com/office/drawing/2014/main" id="{09950A0C-E390-11A3-05CE-A0D906FB5C10}"/>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89D552C7-0875-DECB-9851-75FC004DE894}"/>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3603635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eader Bagi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9B3F755-0E9B-B6AF-7BC0-6CABE61029B4}"/>
              </a:ext>
            </a:extLst>
          </p:cNvPr>
          <p:cNvSpPr>
            <a:spLocks noGrp="1"/>
          </p:cNvSpPr>
          <p:nvPr>
            <p:ph type="title"/>
          </p:nvPr>
        </p:nvSpPr>
        <p:spPr>
          <a:xfrm>
            <a:off x="831850" y="1709738"/>
            <a:ext cx="10515600" cy="2852737"/>
          </a:xfrm>
        </p:spPr>
        <p:txBody>
          <a:bodyPr anchor="b"/>
          <a:lstStyle>
            <a:lvl1pPr>
              <a:defRPr sz="6000"/>
            </a:lvl1pPr>
          </a:lstStyle>
          <a:p>
            <a:r>
              <a:rPr lang="id-ID"/>
              <a:t>Klik untuk mengedit gaya judul Master</a:t>
            </a:r>
          </a:p>
        </p:txBody>
      </p:sp>
      <p:sp>
        <p:nvSpPr>
          <p:cNvPr id="3" name="Tampungan Teks 2">
            <a:extLst>
              <a:ext uri="{FF2B5EF4-FFF2-40B4-BE49-F238E27FC236}">
                <a16:creationId xmlns:a16="http://schemas.microsoft.com/office/drawing/2014/main" id="{842A8223-73B6-521A-E7FD-5DF623FEBC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d-ID"/>
              <a:t>Klik untuk edit gaya teks Master</a:t>
            </a:r>
          </a:p>
        </p:txBody>
      </p:sp>
      <p:sp>
        <p:nvSpPr>
          <p:cNvPr id="4" name="Tampungan Tanggal 3">
            <a:extLst>
              <a:ext uri="{FF2B5EF4-FFF2-40B4-BE49-F238E27FC236}">
                <a16:creationId xmlns:a16="http://schemas.microsoft.com/office/drawing/2014/main" id="{C90EE39C-31CF-CFE2-456A-93F91CEC5FF9}"/>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5" name="Tampungan Kaki 4">
            <a:extLst>
              <a:ext uri="{FF2B5EF4-FFF2-40B4-BE49-F238E27FC236}">
                <a16:creationId xmlns:a16="http://schemas.microsoft.com/office/drawing/2014/main" id="{39BC08B3-79C6-DAB5-8A5D-4B8B256DD92D}"/>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68ADF778-A582-1F27-4064-D55AFFE2B697}"/>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446034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4EE4598-5E8D-E776-7673-C316AD766990}"/>
              </a:ext>
            </a:extLst>
          </p:cNvPr>
          <p:cNvSpPr>
            <a:spLocks noGrp="1"/>
          </p:cNvSpPr>
          <p:nvPr>
            <p:ph type="title"/>
          </p:nvPr>
        </p:nvSpPr>
        <p:spPr/>
        <p:txBody>
          <a:bodyPr/>
          <a:lstStyle/>
          <a:p>
            <a:r>
              <a:rPr lang="id-ID"/>
              <a:t>Klik untuk mengedit gaya judul Master</a:t>
            </a:r>
          </a:p>
        </p:txBody>
      </p:sp>
      <p:sp>
        <p:nvSpPr>
          <p:cNvPr id="3" name="Tampungan Konten 2">
            <a:extLst>
              <a:ext uri="{FF2B5EF4-FFF2-40B4-BE49-F238E27FC236}">
                <a16:creationId xmlns:a16="http://schemas.microsoft.com/office/drawing/2014/main" id="{9886AF35-FC84-969F-3E97-4566760D5DEB}"/>
              </a:ext>
            </a:extLst>
          </p:cNvPr>
          <p:cNvSpPr>
            <a:spLocks noGrp="1"/>
          </p:cNvSpPr>
          <p:nvPr>
            <p:ph sz="half" idx="1"/>
          </p:nvPr>
        </p:nvSpPr>
        <p:spPr>
          <a:xfrm>
            <a:off x="838200" y="1825625"/>
            <a:ext cx="5181600" cy="435133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Konten 3">
            <a:extLst>
              <a:ext uri="{FF2B5EF4-FFF2-40B4-BE49-F238E27FC236}">
                <a16:creationId xmlns:a16="http://schemas.microsoft.com/office/drawing/2014/main" id="{1BDD4E14-D7D4-7606-CEF5-DA188A2FF4BA}"/>
              </a:ext>
            </a:extLst>
          </p:cNvPr>
          <p:cNvSpPr>
            <a:spLocks noGrp="1"/>
          </p:cNvSpPr>
          <p:nvPr>
            <p:ph sz="half" idx="2"/>
          </p:nvPr>
        </p:nvSpPr>
        <p:spPr>
          <a:xfrm>
            <a:off x="6172200" y="1825625"/>
            <a:ext cx="5181600" cy="435133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5" name="Tampungan Tanggal 4">
            <a:extLst>
              <a:ext uri="{FF2B5EF4-FFF2-40B4-BE49-F238E27FC236}">
                <a16:creationId xmlns:a16="http://schemas.microsoft.com/office/drawing/2014/main" id="{04CE3E5A-D090-611B-CB57-31A8B97E4FFD}"/>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6" name="Tampungan Kaki 5">
            <a:extLst>
              <a:ext uri="{FF2B5EF4-FFF2-40B4-BE49-F238E27FC236}">
                <a16:creationId xmlns:a16="http://schemas.microsoft.com/office/drawing/2014/main" id="{B9A61209-3BEB-738C-0BF2-DDD3AE2C5B23}"/>
              </a:ext>
            </a:extLst>
          </p:cNvPr>
          <p:cNvSpPr>
            <a:spLocks noGrp="1"/>
          </p:cNvSpPr>
          <p:nvPr>
            <p:ph type="ftr" sz="quarter" idx="11"/>
          </p:nvPr>
        </p:nvSpPr>
        <p:spPr/>
        <p:txBody>
          <a:bodyPr/>
          <a:lstStyle/>
          <a:p>
            <a:endParaRPr lang="id-ID"/>
          </a:p>
        </p:txBody>
      </p:sp>
      <p:sp>
        <p:nvSpPr>
          <p:cNvPr id="7" name="Tampungan Nomor Slide 6">
            <a:extLst>
              <a:ext uri="{FF2B5EF4-FFF2-40B4-BE49-F238E27FC236}">
                <a16:creationId xmlns:a16="http://schemas.microsoft.com/office/drawing/2014/main" id="{E9272AA8-5215-58AE-645C-3E708AC13C07}"/>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2226878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erbandi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2A1AEDC-C3EE-4A16-D595-23CFAF870DE9}"/>
              </a:ext>
            </a:extLst>
          </p:cNvPr>
          <p:cNvSpPr>
            <a:spLocks noGrp="1"/>
          </p:cNvSpPr>
          <p:nvPr>
            <p:ph type="title"/>
          </p:nvPr>
        </p:nvSpPr>
        <p:spPr>
          <a:xfrm>
            <a:off x="839788" y="365125"/>
            <a:ext cx="10515600" cy="1325563"/>
          </a:xfrm>
        </p:spPr>
        <p:txBody>
          <a:bodyPr/>
          <a:lstStyle/>
          <a:p>
            <a:r>
              <a:rPr lang="id-ID"/>
              <a:t>Klik untuk mengedit gaya judul Master</a:t>
            </a:r>
          </a:p>
        </p:txBody>
      </p:sp>
      <p:sp>
        <p:nvSpPr>
          <p:cNvPr id="3" name="Tampungan Teks 2">
            <a:extLst>
              <a:ext uri="{FF2B5EF4-FFF2-40B4-BE49-F238E27FC236}">
                <a16:creationId xmlns:a16="http://schemas.microsoft.com/office/drawing/2014/main" id="{6505D95F-8D0C-5BE5-DFCB-5ADE7DDBC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d-ID"/>
              <a:t>Klik untuk edit gaya teks Master</a:t>
            </a:r>
          </a:p>
        </p:txBody>
      </p:sp>
      <p:sp>
        <p:nvSpPr>
          <p:cNvPr id="4" name="Tampungan Konten 3">
            <a:extLst>
              <a:ext uri="{FF2B5EF4-FFF2-40B4-BE49-F238E27FC236}">
                <a16:creationId xmlns:a16="http://schemas.microsoft.com/office/drawing/2014/main" id="{F8140030-24B1-8BD7-225F-E0760C3D2EE5}"/>
              </a:ext>
            </a:extLst>
          </p:cNvPr>
          <p:cNvSpPr>
            <a:spLocks noGrp="1"/>
          </p:cNvSpPr>
          <p:nvPr>
            <p:ph sz="half" idx="2"/>
          </p:nvPr>
        </p:nvSpPr>
        <p:spPr>
          <a:xfrm>
            <a:off x="839788" y="2505075"/>
            <a:ext cx="5157787" cy="368458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5" name="Tampungan Teks 4">
            <a:extLst>
              <a:ext uri="{FF2B5EF4-FFF2-40B4-BE49-F238E27FC236}">
                <a16:creationId xmlns:a16="http://schemas.microsoft.com/office/drawing/2014/main" id="{1581738C-32CD-AF77-9FBC-368EAB9587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d-ID"/>
              <a:t>Klik untuk edit gaya teks Master</a:t>
            </a:r>
          </a:p>
        </p:txBody>
      </p:sp>
      <p:sp>
        <p:nvSpPr>
          <p:cNvPr id="6" name="Tampungan Konten 5">
            <a:extLst>
              <a:ext uri="{FF2B5EF4-FFF2-40B4-BE49-F238E27FC236}">
                <a16:creationId xmlns:a16="http://schemas.microsoft.com/office/drawing/2014/main" id="{2575BE40-C071-3808-3E89-00E0EF2B9FAF}"/>
              </a:ext>
            </a:extLst>
          </p:cNvPr>
          <p:cNvSpPr>
            <a:spLocks noGrp="1"/>
          </p:cNvSpPr>
          <p:nvPr>
            <p:ph sz="quarter" idx="4"/>
          </p:nvPr>
        </p:nvSpPr>
        <p:spPr>
          <a:xfrm>
            <a:off x="6172200" y="2505075"/>
            <a:ext cx="5183188" cy="368458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7" name="Tampungan Tanggal 6">
            <a:extLst>
              <a:ext uri="{FF2B5EF4-FFF2-40B4-BE49-F238E27FC236}">
                <a16:creationId xmlns:a16="http://schemas.microsoft.com/office/drawing/2014/main" id="{6E530919-87F3-2950-58A9-FC31E011727D}"/>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8" name="Tampungan Kaki 7">
            <a:extLst>
              <a:ext uri="{FF2B5EF4-FFF2-40B4-BE49-F238E27FC236}">
                <a16:creationId xmlns:a16="http://schemas.microsoft.com/office/drawing/2014/main" id="{78573921-1AB8-40B4-18C1-55AE64E28652}"/>
              </a:ext>
            </a:extLst>
          </p:cNvPr>
          <p:cNvSpPr>
            <a:spLocks noGrp="1"/>
          </p:cNvSpPr>
          <p:nvPr>
            <p:ph type="ftr" sz="quarter" idx="11"/>
          </p:nvPr>
        </p:nvSpPr>
        <p:spPr/>
        <p:txBody>
          <a:bodyPr/>
          <a:lstStyle/>
          <a:p>
            <a:endParaRPr lang="id-ID"/>
          </a:p>
        </p:txBody>
      </p:sp>
      <p:sp>
        <p:nvSpPr>
          <p:cNvPr id="9" name="Tampungan Nomor Slide 8">
            <a:extLst>
              <a:ext uri="{FF2B5EF4-FFF2-40B4-BE49-F238E27FC236}">
                <a16:creationId xmlns:a16="http://schemas.microsoft.com/office/drawing/2014/main" id="{D5D147B9-2C39-87E2-B87C-6E81AD53CCBD}"/>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626615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udul Saja">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57AB5A5-08B8-A51E-63D5-ED55AEDE3191}"/>
              </a:ext>
            </a:extLst>
          </p:cNvPr>
          <p:cNvSpPr>
            <a:spLocks noGrp="1"/>
          </p:cNvSpPr>
          <p:nvPr>
            <p:ph type="title"/>
          </p:nvPr>
        </p:nvSpPr>
        <p:spPr/>
        <p:txBody>
          <a:bodyPr/>
          <a:lstStyle/>
          <a:p>
            <a:r>
              <a:rPr lang="id-ID"/>
              <a:t>Klik untuk mengedit gaya judul Master</a:t>
            </a:r>
          </a:p>
        </p:txBody>
      </p:sp>
      <p:sp>
        <p:nvSpPr>
          <p:cNvPr id="3" name="Tampungan Tanggal 2">
            <a:extLst>
              <a:ext uri="{FF2B5EF4-FFF2-40B4-BE49-F238E27FC236}">
                <a16:creationId xmlns:a16="http://schemas.microsoft.com/office/drawing/2014/main" id="{FDF33828-B8D0-4CE5-0ACA-B34440250FFA}"/>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4" name="Tampungan Kaki 3">
            <a:extLst>
              <a:ext uri="{FF2B5EF4-FFF2-40B4-BE49-F238E27FC236}">
                <a16:creationId xmlns:a16="http://schemas.microsoft.com/office/drawing/2014/main" id="{843A7BCA-5010-A8B7-3810-34CD387CAEF6}"/>
              </a:ext>
            </a:extLst>
          </p:cNvPr>
          <p:cNvSpPr>
            <a:spLocks noGrp="1"/>
          </p:cNvSpPr>
          <p:nvPr>
            <p:ph type="ftr" sz="quarter" idx="11"/>
          </p:nvPr>
        </p:nvSpPr>
        <p:spPr/>
        <p:txBody>
          <a:bodyPr/>
          <a:lstStyle/>
          <a:p>
            <a:endParaRPr lang="id-ID"/>
          </a:p>
        </p:txBody>
      </p:sp>
      <p:sp>
        <p:nvSpPr>
          <p:cNvPr id="5" name="Tampungan Nomor Slide 4">
            <a:extLst>
              <a:ext uri="{FF2B5EF4-FFF2-40B4-BE49-F238E27FC236}">
                <a16:creationId xmlns:a16="http://schemas.microsoft.com/office/drawing/2014/main" id="{54B9A693-F60E-EC32-D70E-BFB747F7A5ED}"/>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4292334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Kosong">
    <p:spTree>
      <p:nvGrpSpPr>
        <p:cNvPr id="1" name=""/>
        <p:cNvGrpSpPr/>
        <p:nvPr/>
      </p:nvGrpSpPr>
      <p:grpSpPr>
        <a:xfrm>
          <a:off x="0" y="0"/>
          <a:ext cx="0" cy="0"/>
          <a:chOff x="0" y="0"/>
          <a:chExt cx="0" cy="0"/>
        </a:xfrm>
      </p:grpSpPr>
      <p:sp>
        <p:nvSpPr>
          <p:cNvPr id="2" name="Tampungan Tanggal 1">
            <a:extLst>
              <a:ext uri="{FF2B5EF4-FFF2-40B4-BE49-F238E27FC236}">
                <a16:creationId xmlns:a16="http://schemas.microsoft.com/office/drawing/2014/main" id="{6EB9ADED-52C5-5392-5103-DD1D9DF13EBE}"/>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3" name="Tampungan Kaki 2">
            <a:extLst>
              <a:ext uri="{FF2B5EF4-FFF2-40B4-BE49-F238E27FC236}">
                <a16:creationId xmlns:a16="http://schemas.microsoft.com/office/drawing/2014/main" id="{ECA96EB9-09A9-1A22-F849-A3F7C069D0C8}"/>
              </a:ext>
            </a:extLst>
          </p:cNvPr>
          <p:cNvSpPr>
            <a:spLocks noGrp="1"/>
          </p:cNvSpPr>
          <p:nvPr>
            <p:ph type="ftr" sz="quarter" idx="11"/>
          </p:nvPr>
        </p:nvSpPr>
        <p:spPr/>
        <p:txBody>
          <a:bodyPr/>
          <a:lstStyle/>
          <a:p>
            <a:endParaRPr lang="id-ID"/>
          </a:p>
        </p:txBody>
      </p:sp>
      <p:sp>
        <p:nvSpPr>
          <p:cNvPr id="4" name="Tampungan Nomor Slide 3">
            <a:extLst>
              <a:ext uri="{FF2B5EF4-FFF2-40B4-BE49-F238E27FC236}">
                <a16:creationId xmlns:a16="http://schemas.microsoft.com/office/drawing/2014/main" id="{3046E3F4-09D2-2049-ABA7-3C8163297EA5}"/>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141656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Konten dengan Ketera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F5CCE02-AE86-78BD-2B18-C0E0F61374E2}"/>
              </a:ext>
            </a:extLst>
          </p:cNvPr>
          <p:cNvSpPr>
            <a:spLocks noGrp="1"/>
          </p:cNvSpPr>
          <p:nvPr>
            <p:ph type="title"/>
          </p:nvPr>
        </p:nvSpPr>
        <p:spPr>
          <a:xfrm>
            <a:off x="839788" y="457200"/>
            <a:ext cx="3932237" cy="1600200"/>
          </a:xfrm>
        </p:spPr>
        <p:txBody>
          <a:bodyPr anchor="b"/>
          <a:lstStyle>
            <a:lvl1pPr>
              <a:defRPr sz="3200"/>
            </a:lvl1pPr>
          </a:lstStyle>
          <a:p>
            <a:r>
              <a:rPr lang="id-ID"/>
              <a:t>Klik untuk mengedit gaya judul Master</a:t>
            </a:r>
          </a:p>
        </p:txBody>
      </p:sp>
      <p:sp>
        <p:nvSpPr>
          <p:cNvPr id="3" name="Tampungan Konten 2">
            <a:extLst>
              <a:ext uri="{FF2B5EF4-FFF2-40B4-BE49-F238E27FC236}">
                <a16:creationId xmlns:a16="http://schemas.microsoft.com/office/drawing/2014/main" id="{D7AF0098-CB2C-587A-0EF7-39D79DBC3B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eks 3">
            <a:extLst>
              <a:ext uri="{FF2B5EF4-FFF2-40B4-BE49-F238E27FC236}">
                <a16:creationId xmlns:a16="http://schemas.microsoft.com/office/drawing/2014/main" id="{27D65802-1BA3-1F39-522B-889E9BAD07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d-ID"/>
              <a:t>Klik untuk edit gaya teks Master</a:t>
            </a:r>
          </a:p>
        </p:txBody>
      </p:sp>
      <p:sp>
        <p:nvSpPr>
          <p:cNvPr id="5" name="Tampungan Tanggal 4">
            <a:extLst>
              <a:ext uri="{FF2B5EF4-FFF2-40B4-BE49-F238E27FC236}">
                <a16:creationId xmlns:a16="http://schemas.microsoft.com/office/drawing/2014/main" id="{AC050DE7-F08B-4315-998F-EEEF2A3F3B38}"/>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6" name="Tampungan Kaki 5">
            <a:extLst>
              <a:ext uri="{FF2B5EF4-FFF2-40B4-BE49-F238E27FC236}">
                <a16:creationId xmlns:a16="http://schemas.microsoft.com/office/drawing/2014/main" id="{DF52DAA8-B935-B07A-6849-89F972D59B7D}"/>
              </a:ext>
            </a:extLst>
          </p:cNvPr>
          <p:cNvSpPr>
            <a:spLocks noGrp="1"/>
          </p:cNvSpPr>
          <p:nvPr>
            <p:ph type="ftr" sz="quarter" idx="11"/>
          </p:nvPr>
        </p:nvSpPr>
        <p:spPr/>
        <p:txBody>
          <a:bodyPr/>
          <a:lstStyle/>
          <a:p>
            <a:endParaRPr lang="id-ID"/>
          </a:p>
        </p:txBody>
      </p:sp>
      <p:sp>
        <p:nvSpPr>
          <p:cNvPr id="7" name="Tampungan Nomor Slide 6">
            <a:extLst>
              <a:ext uri="{FF2B5EF4-FFF2-40B4-BE49-F238E27FC236}">
                <a16:creationId xmlns:a16="http://schemas.microsoft.com/office/drawing/2014/main" id="{98839F4E-EC2A-A553-688C-E295A49BF541}"/>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755962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Gambar dengan Ketera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C4045C4-2C55-5034-E9EE-F25D6AE333A9}"/>
              </a:ext>
            </a:extLst>
          </p:cNvPr>
          <p:cNvSpPr>
            <a:spLocks noGrp="1"/>
          </p:cNvSpPr>
          <p:nvPr>
            <p:ph type="title"/>
          </p:nvPr>
        </p:nvSpPr>
        <p:spPr>
          <a:xfrm>
            <a:off x="839788" y="457200"/>
            <a:ext cx="3932237" cy="1600200"/>
          </a:xfrm>
        </p:spPr>
        <p:txBody>
          <a:bodyPr anchor="b"/>
          <a:lstStyle>
            <a:lvl1pPr>
              <a:defRPr sz="3200"/>
            </a:lvl1pPr>
          </a:lstStyle>
          <a:p>
            <a:r>
              <a:rPr lang="id-ID"/>
              <a:t>Klik untuk mengedit gaya judul Master</a:t>
            </a:r>
          </a:p>
        </p:txBody>
      </p:sp>
      <p:sp>
        <p:nvSpPr>
          <p:cNvPr id="3" name="Tampungan Gambar 2">
            <a:extLst>
              <a:ext uri="{FF2B5EF4-FFF2-40B4-BE49-F238E27FC236}">
                <a16:creationId xmlns:a16="http://schemas.microsoft.com/office/drawing/2014/main" id="{6B875BB6-82FA-79D4-5BDD-427C6EFD70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ampungan Teks 3">
            <a:extLst>
              <a:ext uri="{FF2B5EF4-FFF2-40B4-BE49-F238E27FC236}">
                <a16:creationId xmlns:a16="http://schemas.microsoft.com/office/drawing/2014/main" id="{068384C1-095F-81B7-A35A-E6B7113EB4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d-ID"/>
              <a:t>Klik untuk edit gaya teks Master</a:t>
            </a:r>
          </a:p>
        </p:txBody>
      </p:sp>
      <p:sp>
        <p:nvSpPr>
          <p:cNvPr id="5" name="Tampungan Tanggal 4">
            <a:extLst>
              <a:ext uri="{FF2B5EF4-FFF2-40B4-BE49-F238E27FC236}">
                <a16:creationId xmlns:a16="http://schemas.microsoft.com/office/drawing/2014/main" id="{2F0564BA-14D3-ACDA-A3D2-52EE7B3EC242}"/>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6" name="Tampungan Kaki 5">
            <a:extLst>
              <a:ext uri="{FF2B5EF4-FFF2-40B4-BE49-F238E27FC236}">
                <a16:creationId xmlns:a16="http://schemas.microsoft.com/office/drawing/2014/main" id="{BA8464C9-8FC7-8A5D-6C20-A60F61388697}"/>
              </a:ext>
            </a:extLst>
          </p:cNvPr>
          <p:cNvSpPr>
            <a:spLocks noGrp="1"/>
          </p:cNvSpPr>
          <p:nvPr>
            <p:ph type="ftr" sz="quarter" idx="11"/>
          </p:nvPr>
        </p:nvSpPr>
        <p:spPr/>
        <p:txBody>
          <a:bodyPr/>
          <a:lstStyle/>
          <a:p>
            <a:endParaRPr lang="id-ID"/>
          </a:p>
        </p:txBody>
      </p:sp>
      <p:sp>
        <p:nvSpPr>
          <p:cNvPr id="7" name="Tampungan Nomor Slide 6">
            <a:extLst>
              <a:ext uri="{FF2B5EF4-FFF2-40B4-BE49-F238E27FC236}">
                <a16:creationId xmlns:a16="http://schemas.microsoft.com/office/drawing/2014/main" id="{D7CFC823-2692-B9C9-649E-DC5CB98D7221}"/>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2449269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Judul dan Teks Vertika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87F937FA-1831-89D5-9AA9-840144FE2884}"/>
              </a:ext>
            </a:extLst>
          </p:cNvPr>
          <p:cNvSpPr>
            <a:spLocks noGrp="1"/>
          </p:cNvSpPr>
          <p:nvPr>
            <p:ph type="title"/>
          </p:nvPr>
        </p:nvSpPr>
        <p:spPr/>
        <p:txBody>
          <a:bodyPr/>
          <a:lstStyle/>
          <a:p>
            <a:r>
              <a:rPr lang="id-ID"/>
              <a:t>Klik untuk mengedit gaya judul Master</a:t>
            </a:r>
          </a:p>
        </p:txBody>
      </p:sp>
      <p:sp>
        <p:nvSpPr>
          <p:cNvPr id="3" name="Tampungan Teks Vertikal 2">
            <a:extLst>
              <a:ext uri="{FF2B5EF4-FFF2-40B4-BE49-F238E27FC236}">
                <a16:creationId xmlns:a16="http://schemas.microsoft.com/office/drawing/2014/main" id="{95397D7B-D31E-9CCB-3397-9ECAAD12DBBD}"/>
              </a:ext>
            </a:extLst>
          </p:cNvPr>
          <p:cNvSpPr>
            <a:spLocks noGrp="1"/>
          </p:cNvSpPr>
          <p:nvPr>
            <p:ph type="body" orient="vert" idx="1"/>
          </p:nvPr>
        </p:nvSpPr>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7AF811A6-04FB-47AD-01A6-C1CD6C5D0507}"/>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5" name="Tampungan Kaki 4">
            <a:extLst>
              <a:ext uri="{FF2B5EF4-FFF2-40B4-BE49-F238E27FC236}">
                <a16:creationId xmlns:a16="http://schemas.microsoft.com/office/drawing/2014/main" id="{137A992F-7D75-01B6-10F0-01712B18CA91}"/>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766735A7-E978-CA1D-942C-B68F9FC3B8E8}"/>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1434484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Judul Vertikal dan Teks">
    <p:spTree>
      <p:nvGrpSpPr>
        <p:cNvPr id="1" name=""/>
        <p:cNvGrpSpPr/>
        <p:nvPr/>
      </p:nvGrpSpPr>
      <p:grpSpPr>
        <a:xfrm>
          <a:off x="0" y="0"/>
          <a:ext cx="0" cy="0"/>
          <a:chOff x="0" y="0"/>
          <a:chExt cx="0" cy="0"/>
        </a:xfrm>
      </p:grpSpPr>
      <p:sp>
        <p:nvSpPr>
          <p:cNvPr id="2" name="Judul Vertikal 1">
            <a:extLst>
              <a:ext uri="{FF2B5EF4-FFF2-40B4-BE49-F238E27FC236}">
                <a16:creationId xmlns:a16="http://schemas.microsoft.com/office/drawing/2014/main" id="{184ACE03-A701-1321-D743-6192984C1869}"/>
              </a:ext>
            </a:extLst>
          </p:cNvPr>
          <p:cNvSpPr>
            <a:spLocks noGrp="1"/>
          </p:cNvSpPr>
          <p:nvPr>
            <p:ph type="title" orient="vert"/>
          </p:nvPr>
        </p:nvSpPr>
        <p:spPr>
          <a:xfrm>
            <a:off x="8724900" y="365125"/>
            <a:ext cx="2628900" cy="5811838"/>
          </a:xfrm>
        </p:spPr>
        <p:txBody>
          <a:bodyPr vert="eaVert"/>
          <a:lstStyle/>
          <a:p>
            <a:r>
              <a:rPr lang="id-ID"/>
              <a:t>Klik untuk mengedit gaya judul Master</a:t>
            </a:r>
          </a:p>
        </p:txBody>
      </p:sp>
      <p:sp>
        <p:nvSpPr>
          <p:cNvPr id="3" name="Tampungan Teks Vertikal 2">
            <a:extLst>
              <a:ext uri="{FF2B5EF4-FFF2-40B4-BE49-F238E27FC236}">
                <a16:creationId xmlns:a16="http://schemas.microsoft.com/office/drawing/2014/main" id="{915EEE09-EE8A-DF93-53FF-BD3F8278D241}"/>
              </a:ext>
            </a:extLst>
          </p:cNvPr>
          <p:cNvSpPr>
            <a:spLocks noGrp="1"/>
          </p:cNvSpPr>
          <p:nvPr>
            <p:ph type="body" orient="vert" idx="1"/>
          </p:nvPr>
        </p:nvSpPr>
        <p:spPr>
          <a:xfrm>
            <a:off x="838200" y="365125"/>
            <a:ext cx="7734300" cy="5811838"/>
          </a:xfrm>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61B9E51A-EBF3-9655-E0E4-7549D10BBA8D}"/>
              </a:ext>
            </a:extLst>
          </p:cNvPr>
          <p:cNvSpPr>
            <a:spLocks noGrp="1"/>
          </p:cNvSpPr>
          <p:nvPr>
            <p:ph type="dt" sz="half" idx="10"/>
          </p:nvPr>
        </p:nvSpPr>
        <p:spPr/>
        <p:txBody>
          <a:bodyPr/>
          <a:lstStyle/>
          <a:p>
            <a:fld id="{151D1E87-7938-4581-915E-761325DA3CDA}" type="datetimeFigureOut">
              <a:rPr lang="id-ID" smtClean="0"/>
              <a:t>31/07/2026</a:t>
            </a:fld>
            <a:endParaRPr lang="id-ID"/>
          </a:p>
        </p:txBody>
      </p:sp>
      <p:sp>
        <p:nvSpPr>
          <p:cNvPr id="5" name="Tampungan Kaki 4">
            <a:extLst>
              <a:ext uri="{FF2B5EF4-FFF2-40B4-BE49-F238E27FC236}">
                <a16:creationId xmlns:a16="http://schemas.microsoft.com/office/drawing/2014/main" id="{5A0F5167-AEC4-3896-D5CA-B33D432A7408}"/>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EFBD30BC-D0CB-89B4-E14F-D9F6031B2645}"/>
              </a:ext>
            </a:extLst>
          </p:cNvPr>
          <p:cNvSpPr>
            <a:spLocks noGrp="1"/>
          </p:cNvSpPr>
          <p:nvPr>
            <p:ph type="sldNum" sz="quarter" idx="12"/>
          </p:nvPr>
        </p:nvSpPr>
        <p:spPr/>
        <p:txBody>
          <a:bodyPr/>
          <a:lstStyle/>
          <a:p>
            <a:fld id="{E24330C0-0837-49F3-B100-80D15DBE5572}" type="slidenum">
              <a:rPr lang="id-ID" smtClean="0"/>
              <a:t>‹#›</a:t>
            </a:fld>
            <a:endParaRPr lang="id-ID"/>
          </a:p>
        </p:txBody>
      </p:sp>
    </p:spTree>
    <p:extLst>
      <p:ext uri="{BB962C8B-B14F-4D97-AF65-F5344CB8AC3E}">
        <p14:creationId xmlns:p14="http://schemas.microsoft.com/office/powerpoint/2010/main" val="3177465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Judul 1">
            <a:extLst>
              <a:ext uri="{FF2B5EF4-FFF2-40B4-BE49-F238E27FC236}">
                <a16:creationId xmlns:a16="http://schemas.microsoft.com/office/drawing/2014/main" id="{84373CEA-5C23-D9E1-CF47-F803FDB3C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d-ID"/>
              <a:t>Klik untuk mengedit gaya judul Master</a:t>
            </a:r>
          </a:p>
        </p:txBody>
      </p:sp>
      <p:sp>
        <p:nvSpPr>
          <p:cNvPr id="3" name="Tampungan Teks 2">
            <a:extLst>
              <a:ext uri="{FF2B5EF4-FFF2-40B4-BE49-F238E27FC236}">
                <a16:creationId xmlns:a16="http://schemas.microsoft.com/office/drawing/2014/main" id="{1747E128-07A3-EC17-AE33-46A77231BB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3B717855-BD53-5D3A-3AED-2F84622DA0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1D1E87-7938-4581-915E-761325DA3CDA}" type="datetimeFigureOut">
              <a:rPr lang="id-ID" smtClean="0"/>
              <a:t>31/07/2026</a:t>
            </a:fld>
            <a:endParaRPr lang="id-ID"/>
          </a:p>
        </p:txBody>
      </p:sp>
      <p:sp>
        <p:nvSpPr>
          <p:cNvPr id="5" name="Tampungan Kaki 4">
            <a:extLst>
              <a:ext uri="{FF2B5EF4-FFF2-40B4-BE49-F238E27FC236}">
                <a16:creationId xmlns:a16="http://schemas.microsoft.com/office/drawing/2014/main" id="{8C5878F7-156A-F6EB-0637-DF60425D78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d-ID"/>
          </a:p>
        </p:txBody>
      </p:sp>
      <p:sp>
        <p:nvSpPr>
          <p:cNvPr id="6" name="Tampungan Nomor Slide 5">
            <a:extLst>
              <a:ext uri="{FF2B5EF4-FFF2-40B4-BE49-F238E27FC236}">
                <a16:creationId xmlns:a16="http://schemas.microsoft.com/office/drawing/2014/main" id="{3C5B5E89-621A-4383-0D80-D12AAA8F91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4330C0-0837-49F3-B100-80D15DBE5572}" type="slidenum">
              <a:rPr lang="id-ID" smtClean="0"/>
              <a:t>‹#›</a:t>
            </a:fld>
            <a:endParaRPr lang="id-ID"/>
          </a:p>
        </p:txBody>
      </p:sp>
    </p:spTree>
    <p:extLst>
      <p:ext uri="{BB962C8B-B14F-4D97-AF65-F5344CB8AC3E}">
        <p14:creationId xmlns:p14="http://schemas.microsoft.com/office/powerpoint/2010/main" val="21675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Judul 1">
            <a:extLst>
              <a:ext uri="{FF2B5EF4-FFF2-40B4-BE49-F238E27FC236}">
                <a16:creationId xmlns:a16="http://schemas.microsoft.com/office/drawing/2014/main" id="{4C8AB2A9-F310-157B-AD0B-8626DA99409D}"/>
              </a:ext>
            </a:extLst>
          </p:cNvPr>
          <p:cNvSpPr>
            <a:spLocks noGrp="1"/>
          </p:cNvSpPr>
          <p:nvPr>
            <p:ph type="ctrTitle"/>
          </p:nvPr>
        </p:nvSpPr>
        <p:spPr>
          <a:xfrm>
            <a:off x="1386865" y="818984"/>
            <a:ext cx="6596245" cy="3268520"/>
          </a:xfrm>
        </p:spPr>
        <p:txBody>
          <a:bodyPr>
            <a:normAutofit/>
          </a:bodyPr>
          <a:lstStyle/>
          <a:p>
            <a:pPr algn="r"/>
            <a:r>
              <a:rPr lang="id-ID" sz="4400">
                <a:solidFill>
                  <a:srgbClr val="FFFFFF"/>
                </a:solidFill>
              </a:rPr>
              <a:t>Sistem Antarmuka Generatif Adaptif Berbasis Komputasi Visi Sisi-Klien untuk Mitigasi Beban Kognitif secara Real-Time</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judul 2">
            <a:extLst>
              <a:ext uri="{FF2B5EF4-FFF2-40B4-BE49-F238E27FC236}">
                <a16:creationId xmlns:a16="http://schemas.microsoft.com/office/drawing/2014/main" id="{4982AB84-35AE-33F7-E225-63EA83693725}"/>
              </a:ext>
            </a:extLst>
          </p:cNvPr>
          <p:cNvSpPr>
            <a:spLocks noGrp="1"/>
          </p:cNvSpPr>
          <p:nvPr>
            <p:ph type="subTitle" idx="1"/>
          </p:nvPr>
        </p:nvSpPr>
        <p:spPr>
          <a:xfrm>
            <a:off x="1931874" y="4797188"/>
            <a:ext cx="6051236" cy="1241828"/>
          </a:xfrm>
        </p:spPr>
        <p:txBody>
          <a:bodyPr>
            <a:normAutofit/>
          </a:bodyPr>
          <a:lstStyle/>
          <a:p>
            <a:pPr algn="r"/>
            <a:endParaRPr lang="id-ID">
              <a:solidFill>
                <a:srgbClr val="FFFFFF"/>
              </a:solidFill>
            </a:endParaRP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4754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Judul 1">
            <a:extLst>
              <a:ext uri="{FF2B5EF4-FFF2-40B4-BE49-F238E27FC236}">
                <a16:creationId xmlns:a16="http://schemas.microsoft.com/office/drawing/2014/main" id="{1A41457C-238B-D306-E2D6-002D71C7DEEA}"/>
              </a:ext>
            </a:extLst>
          </p:cNvPr>
          <p:cNvSpPr>
            <a:spLocks noGrp="1"/>
          </p:cNvSpPr>
          <p:nvPr>
            <p:ph type="title"/>
          </p:nvPr>
        </p:nvSpPr>
        <p:spPr>
          <a:xfrm>
            <a:off x="1371599" y="294538"/>
            <a:ext cx="9895951" cy="1033669"/>
          </a:xfrm>
        </p:spPr>
        <p:txBody>
          <a:bodyPr>
            <a:normAutofit/>
          </a:bodyPr>
          <a:lstStyle/>
          <a:p>
            <a:r>
              <a:rPr lang="id-ID" sz="4000">
                <a:solidFill>
                  <a:srgbClr val="FFFFFF"/>
                </a:solidFill>
              </a:rPr>
              <a:t>Mengapa WebCog-Net Diperlukan? </a:t>
            </a:r>
          </a:p>
        </p:txBody>
      </p:sp>
      <p:sp>
        <p:nvSpPr>
          <p:cNvPr id="3" name="Tampungan Konten 2">
            <a:extLst>
              <a:ext uri="{FF2B5EF4-FFF2-40B4-BE49-F238E27FC236}">
                <a16:creationId xmlns:a16="http://schemas.microsoft.com/office/drawing/2014/main" id="{A8E0EF34-483B-5700-E161-E61BA9A61F7F}"/>
              </a:ext>
            </a:extLst>
          </p:cNvPr>
          <p:cNvSpPr>
            <a:spLocks noGrp="1"/>
          </p:cNvSpPr>
          <p:nvPr>
            <p:ph idx="1"/>
          </p:nvPr>
        </p:nvSpPr>
        <p:spPr>
          <a:xfrm>
            <a:off x="1371599" y="2318197"/>
            <a:ext cx="9724031" cy="3683358"/>
          </a:xfrm>
        </p:spPr>
        <p:txBody>
          <a:bodyPr anchor="ctr">
            <a:normAutofit/>
          </a:bodyPr>
          <a:lstStyle/>
          <a:p>
            <a:r>
              <a:rPr lang="id-ID" sz="1900" b="1" dirty="0"/>
              <a:t>Kompleksitas Web Modern:</a:t>
            </a:r>
            <a:r>
              <a:rPr lang="id-ID" sz="1900" dirty="0"/>
              <a:t> Laju perkembangan </a:t>
            </a:r>
            <a:r>
              <a:rPr lang="id-ID" sz="1900" i="1" dirty="0" err="1"/>
              <a:t>Generative</a:t>
            </a:r>
            <a:r>
              <a:rPr lang="id-ID" sz="1900" i="1" dirty="0"/>
              <a:t> AI</a:t>
            </a:r>
            <a:r>
              <a:rPr lang="id-ID" sz="1900" dirty="0"/>
              <a:t> dan </a:t>
            </a:r>
            <a:r>
              <a:rPr lang="id-ID" sz="1900" dirty="0" err="1"/>
              <a:t>personalisasi</a:t>
            </a:r>
            <a:r>
              <a:rPr lang="id-ID" sz="1900" dirty="0"/>
              <a:t> membuat antarmuka web sangat padat informasi. Hal ini memicu </a:t>
            </a:r>
            <a:r>
              <a:rPr lang="id-ID" sz="1900" i="1" dirty="0" err="1"/>
              <a:t>cognitive</a:t>
            </a:r>
            <a:r>
              <a:rPr lang="id-ID" sz="1900" i="1" dirty="0"/>
              <a:t> </a:t>
            </a:r>
            <a:r>
              <a:rPr lang="id-ID" sz="1900" i="1" dirty="0" err="1"/>
              <a:t>overload</a:t>
            </a:r>
            <a:r>
              <a:rPr lang="id-ID" sz="1900" dirty="0"/>
              <a:t> (beban kognitif berlebih) yang menurunkan performa navigasi dan memicu frustrasi pengguna. </a:t>
            </a:r>
          </a:p>
          <a:p>
            <a:r>
              <a:rPr lang="id-ID" sz="1900" b="1" dirty="0"/>
              <a:t>Keterbatasan Sistem Tradisional:</a:t>
            </a:r>
            <a:r>
              <a:rPr lang="id-ID" sz="1900" dirty="0"/>
              <a:t> Antarmuka saat ini bersifat statis dan "buta" terhadap kondisi psikologis penggunanya. </a:t>
            </a:r>
          </a:p>
          <a:p>
            <a:r>
              <a:rPr lang="id-ID" sz="1900" b="1" dirty="0"/>
              <a:t>Dilema Pengukuran </a:t>
            </a:r>
            <a:r>
              <a:rPr lang="id-ID" sz="1900" b="1" dirty="0" err="1"/>
              <a:t>Biometrik</a:t>
            </a:r>
            <a:r>
              <a:rPr lang="id-ID" sz="1900" b="1" dirty="0"/>
              <a:t> Saat Ini:</a:t>
            </a:r>
            <a:r>
              <a:rPr lang="id-ID" sz="1900" dirty="0"/>
              <a:t> * Metode fisik berbasis laboratorium (EEG/alat pelacak mata inframerah) bersifat </a:t>
            </a:r>
            <a:r>
              <a:rPr lang="id-ID" sz="1900" dirty="0" err="1"/>
              <a:t>intrusif</a:t>
            </a:r>
            <a:r>
              <a:rPr lang="id-ID" sz="1900" dirty="0"/>
              <a:t>, mahal, dan tidak adaptif untuk harian. </a:t>
            </a:r>
          </a:p>
          <a:p>
            <a:pPr lvl="1"/>
            <a:r>
              <a:rPr lang="id-ID" sz="1900" dirty="0"/>
              <a:t>Metode berbasis </a:t>
            </a:r>
            <a:r>
              <a:rPr lang="id-ID" sz="1900" i="1" dirty="0" err="1"/>
              <a:t>Computer</a:t>
            </a:r>
            <a:r>
              <a:rPr lang="id-ID" sz="1900" i="1" dirty="0"/>
              <a:t> Vision</a:t>
            </a:r>
            <a:r>
              <a:rPr lang="id-ID" sz="1900" dirty="0"/>
              <a:t> (</a:t>
            </a:r>
            <a:r>
              <a:rPr lang="id-ID" sz="1900" dirty="0" err="1"/>
              <a:t>webcam</a:t>
            </a:r>
            <a:r>
              <a:rPr lang="id-ID" sz="1900" dirty="0"/>
              <a:t>) yang ada saat ini mayoritas beralih ke </a:t>
            </a:r>
            <a:r>
              <a:rPr lang="id-ID" sz="1900" i="1" dirty="0" err="1"/>
              <a:t>cloud</a:t>
            </a:r>
            <a:r>
              <a:rPr lang="id-ID" sz="1900" dirty="0"/>
              <a:t>, yang memicu pelanggaran privasi data serta menimbulkan latensi jaringan yang tinggi.</a:t>
            </a:r>
          </a:p>
        </p:txBody>
      </p:sp>
    </p:spTree>
    <p:extLst>
      <p:ext uri="{BB962C8B-B14F-4D97-AF65-F5344CB8AC3E}">
        <p14:creationId xmlns:p14="http://schemas.microsoft.com/office/powerpoint/2010/main" val="277910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Judul 1">
            <a:extLst>
              <a:ext uri="{FF2B5EF4-FFF2-40B4-BE49-F238E27FC236}">
                <a16:creationId xmlns:a16="http://schemas.microsoft.com/office/drawing/2014/main" id="{7FED1638-5411-7D5E-C4B2-B2DAF08AE99E}"/>
              </a:ext>
            </a:extLst>
          </p:cNvPr>
          <p:cNvSpPr>
            <a:spLocks noGrp="1"/>
          </p:cNvSpPr>
          <p:nvPr>
            <p:ph type="title"/>
          </p:nvPr>
        </p:nvSpPr>
        <p:spPr>
          <a:xfrm>
            <a:off x="686834" y="1153572"/>
            <a:ext cx="3200400" cy="4461163"/>
          </a:xfrm>
        </p:spPr>
        <p:txBody>
          <a:bodyPr>
            <a:normAutofit/>
          </a:bodyPr>
          <a:lstStyle/>
          <a:p>
            <a:r>
              <a:rPr lang="id-ID">
                <a:solidFill>
                  <a:srgbClr val="FFFFFF"/>
                </a:solidFill>
              </a:rPr>
              <a:t>Karakteristik Aplikasi &amp; Kontribusi Utama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ampungan Konten 2">
            <a:extLst>
              <a:ext uri="{FF2B5EF4-FFF2-40B4-BE49-F238E27FC236}">
                <a16:creationId xmlns:a16="http://schemas.microsoft.com/office/drawing/2014/main" id="{1D8CADB9-2936-AF4A-3AEB-2BA4866F0B86}"/>
              </a:ext>
            </a:extLst>
          </p:cNvPr>
          <p:cNvSpPr>
            <a:spLocks noGrp="1"/>
          </p:cNvSpPr>
          <p:nvPr>
            <p:ph idx="1"/>
          </p:nvPr>
        </p:nvSpPr>
        <p:spPr>
          <a:xfrm>
            <a:off x="4447308" y="591344"/>
            <a:ext cx="6906491" cy="5585619"/>
          </a:xfrm>
        </p:spPr>
        <p:txBody>
          <a:bodyPr anchor="ctr">
            <a:normAutofit/>
          </a:bodyPr>
          <a:lstStyle/>
          <a:p>
            <a:r>
              <a:rPr lang="id-ID" sz="2200" b="1"/>
              <a:t>Aplikasi Web Sisi-Klien (</a:t>
            </a:r>
            <a:r>
              <a:rPr lang="id-ID" sz="2200" b="1" i="1" err="1"/>
              <a:t>Client-Side</a:t>
            </a:r>
            <a:r>
              <a:rPr lang="id-ID" sz="2200" b="1" i="1"/>
              <a:t> </a:t>
            </a:r>
            <a:r>
              <a:rPr lang="id-ID" sz="2200" b="1" i="1" err="1"/>
              <a:t>App</a:t>
            </a:r>
            <a:r>
              <a:rPr lang="id-ID" sz="2200" b="1"/>
              <a:t>):</a:t>
            </a:r>
            <a:r>
              <a:rPr lang="id-ID" sz="2200"/>
              <a:t> Sistem berbasis browser yang mengintegrasikan kecerdasan buatan secara lokal tanpa transmisi data (</a:t>
            </a:r>
            <a:r>
              <a:rPr lang="id-ID" sz="2200" i="1" err="1"/>
              <a:t>cloud</a:t>
            </a:r>
            <a:r>
              <a:rPr lang="id-ID" sz="2200" i="1"/>
              <a:t> zero-</a:t>
            </a:r>
            <a:r>
              <a:rPr lang="id-ID" sz="2200" i="1" err="1"/>
              <a:t>transmission</a:t>
            </a:r>
            <a:r>
              <a:rPr lang="id-ID" sz="2200"/>
              <a:t>). </a:t>
            </a:r>
          </a:p>
          <a:p>
            <a:r>
              <a:rPr lang="id-ID" sz="2200" b="1" err="1"/>
              <a:t>WebCog</a:t>
            </a:r>
            <a:r>
              <a:rPr lang="id-ID" sz="2200" b="1"/>
              <a:t>-Net </a:t>
            </a:r>
            <a:r>
              <a:rPr lang="id-ID" sz="2200" b="1" err="1"/>
              <a:t>Core</a:t>
            </a:r>
            <a:r>
              <a:rPr lang="id-ID" sz="2200" b="1"/>
              <a:t> </a:t>
            </a:r>
            <a:r>
              <a:rPr lang="id-ID" sz="2200" b="1" err="1"/>
              <a:t>Engine</a:t>
            </a:r>
            <a:r>
              <a:rPr lang="id-ID" sz="2200" b="1"/>
              <a:t>:</a:t>
            </a:r>
            <a:r>
              <a:rPr lang="id-ID" sz="2200"/>
              <a:t> Arsitektur jaringan saraf hibrida ringan berbasis 1D CNN-GRU dengan ukuran model di bawah 50 KB. </a:t>
            </a:r>
          </a:p>
          <a:p>
            <a:r>
              <a:rPr lang="id-ID" sz="2200" b="1"/>
              <a:t>Sistem </a:t>
            </a:r>
            <a:r>
              <a:rPr lang="id-ID" sz="2200" b="1" i="1" err="1"/>
              <a:t>Closed-Loop</a:t>
            </a:r>
            <a:r>
              <a:rPr lang="id-ID" sz="2200" b="1"/>
              <a:t> Otomatis:</a:t>
            </a:r>
            <a:r>
              <a:rPr lang="id-ID" sz="2200"/>
              <a:t> Sistem yang secara otonom memantau beban kognitif dalam jendela waktu (</a:t>
            </a:r>
            <a:r>
              <a:rPr lang="id-ID" sz="2200" i="1" err="1"/>
              <a:t>sliding</a:t>
            </a:r>
            <a:r>
              <a:rPr lang="id-ID" sz="2200" i="1"/>
              <a:t> </a:t>
            </a:r>
            <a:r>
              <a:rPr lang="id-ID" sz="2200" i="1" err="1"/>
              <a:t>window</a:t>
            </a:r>
            <a:r>
              <a:rPr lang="id-ID" sz="2200"/>
              <a:t>) 5 detik. </a:t>
            </a:r>
          </a:p>
          <a:p>
            <a:r>
              <a:rPr lang="id-ID" sz="2200" b="1"/>
              <a:t>Visual </a:t>
            </a:r>
            <a:r>
              <a:rPr lang="id-ID" sz="2200" b="1" err="1"/>
              <a:t>Decluttering</a:t>
            </a:r>
            <a:r>
              <a:rPr lang="id-ID" sz="2200" b="1"/>
              <a:t> </a:t>
            </a:r>
            <a:r>
              <a:rPr lang="id-ID" sz="2200" b="1" err="1"/>
              <a:t>Engine</a:t>
            </a:r>
            <a:r>
              <a:rPr lang="id-ID" sz="2200" b="1"/>
              <a:t>:</a:t>
            </a:r>
            <a:r>
              <a:rPr lang="id-ID" sz="2200"/>
              <a:t> Fitur manipulasi </a:t>
            </a:r>
            <a:r>
              <a:rPr lang="id-ID" sz="2200" i="1" err="1"/>
              <a:t>Document</a:t>
            </a:r>
            <a:r>
              <a:rPr lang="id-ID" sz="2200" i="1"/>
              <a:t> </a:t>
            </a:r>
            <a:r>
              <a:rPr lang="id-ID" sz="2200" i="1" err="1"/>
              <a:t>Object</a:t>
            </a:r>
            <a:r>
              <a:rPr lang="id-ID" sz="2200" i="1"/>
              <a:t> Model</a:t>
            </a:r>
            <a:r>
              <a:rPr lang="id-ID" sz="2200"/>
              <a:t> (DOM) yang bekerja secara instan untuk menyederhanakan visual web (menyembunyikan iklan, menyederhanakan palet warna, menaikkan kontras) saat pengguna terdeteksi mengalami beban kognitif tinggi. </a:t>
            </a:r>
            <a:r>
              <a:rPr lang="en-US" sz="2200"/>
              <a:t> </a:t>
            </a:r>
            <a:endParaRPr lang="id-ID" sz="2200"/>
          </a:p>
        </p:txBody>
      </p:sp>
    </p:spTree>
    <p:extLst>
      <p:ext uri="{BB962C8B-B14F-4D97-AF65-F5344CB8AC3E}">
        <p14:creationId xmlns:p14="http://schemas.microsoft.com/office/powerpoint/2010/main" val="3180205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Judul 1">
            <a:extLst>
              <a:ext uri="{FF2B5EF4-FFF2-40B4-BE49-F238E27FC236}">
                <a16:creationId xmlns:a16="http://schemas.microsoft.com/office/drawing/2014/main" id="{BAED964A-B14A-1D28-75C0-CA869226FB0C}"/>
              </a:ext>
            </a:extLst>
          </p:cNvPr>
          <p:cNvSpPr>
            <a:spLocks noGrp="1"/>
          </p:cNvSpPr>
          <p:nvPr>
            <p:ph type="title"/>
          </p:nvPr>
        </p:nvSpPr>
        <p:spPr>
          <a:xfrm>
            <a:off x="838200" y="365125"/>
            <a:ext cx="10515600" cy="1325563"/>
          </a:xfrm>
        </p:spPr>
        <p:txBody>
          <a:bodyPr>
            <a:normAutofit/>
          </a:bodyPr>
          <a:lstStyle/>
          <a:p>
            <a:r>
              <a:rPr lang="id-ID" dirty="0"/>
              <a:t>Skema Pengujian </a:t>
            </a:r>
            <a:r>
              <a:rPr lang="id-ID" i="1" dirty="0" err="1"/>
              <a:t>Within-Subjects</a:t>
            </a:r>
            <a:endParaRPr lang="id-ID"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ampungan Konten 2">
            <a:extLst>
              <a:ext uri="{FF2B5EF4-FFF2-40B4-BE49-F238E27FC236}">
                <a16:creationId xmlns:a16="http://schemas.microsoft.com/office/drawing/2014/main" id="{BF7DD422-689E-2385-5838-F84F7D1EE2BF}"/>
              </a:ext>
            </a:extLst>
          </p:cNvPr>
          <p:cNvSpPr>
            <a:spLocks noGrp="1"/>
          </p:cNvSpPr>
          <p:nvPr>
            <p:ph idx="1"/>
          </p:nvPr>
        </p:nvSpPr>
        <p:spPr>
          <a:xfrm>
            <a:off x="838200" y="1825625"/>
            <a:ext cx="10515600" cy="4351338"/>
          </a:xfrm>
        </p:spPr>
        <p:txBody>
          <a:bodyPr>
            <a:normAutofit/>
          </a:bodyPr>
          <a:lstStyle/>
          <a:p>
            <a:r>
              <a:rPr lang="id-ID" b="1" dirty="0"/>
              <a:t>Metode Campuran (</a:t>
            </a:r>
            <a:r>
              <a:rPr lang="id-ID" b="1" i="1" dirty="0" err="1"/>
              <a:t>Mixed-Methods</a:t>
            </a:r>
            <a:r>
              <a:rPr lang="id-ID" b="1" dirty="0"/>
              <a:t>):</a:t>
            </a:r>
            <a:r>
              <a:rPr lang="id-ID" dirty="0"/>
              <a:t> Mengombinasikan data performa teknik, log objektif, dan kuesioner subjektif. </a:t>
            </a:r>
          </a:p>
          <a:p>
            <a:r>
              <a:rPr lang="id-ID" b="1" dirty="0"/>
              <a:t>Desain Eksperimen:</a:t>
            </a:r>
            <a:r>
              <a:rPr lang="id-ID" dirty="0"/>
              <a:t> Setiap partisipan (N=30) akan menguji 3 skenario tugas navigasi dengan urutan acak (</a:t>
            </a:r>
            <a:r>
              <a:rPr lang="id-ID" i="1" dirty="0"/>
              <a:t>Latin </a:t>
            </a:r>
            <a:r>
              <a:rPr lang="id-ID" i="1" dirty="0" err="1"/>
              <a:t>Square</a:t>
            </a:r>
            <a:r>
              <a:rPr lang="id-ID" dirty="0"/>
              <a:t>): </a:t>
            </a:r>
          </a:p>
          <a:p>
            <a:pPr lvl="1"/>
            <a:r>
              <a:rPr lang="id-ID" i="1" dirty="0"/>
              <a:t>Skenario A (</a:t>
            </a:r>
            <a:r>
              <a:rPr lang="id-ID" i="1" dirty="0" err="1"/>
              <a:t>Baseline</a:t>
            </a:r>
            <a:r>
              <a:rPr lang="id-ID" i="1" dirty="0"/>
              <a:t>):</a:t>
            </a:r>
            <a:r>
              <a:rPr lang="id-ID" dirty="0"/>
              <a:t> Web minimalis, tugas kognitif rendah. </a:t>
            </a:r>
          </a:p>
          <a:p>
            <a:pPr lvl="1"/>
            <a:r>
              <a:rPr lang="id-ID" i="1" dirty="0"/>
              <a:t>Skenario B (Statis):</a:t>
            </a:r>
            <a:r>
              <a:rPr lang="id-ID" dirty="0"/>
              <a:t> Web kompleks (penuh iklan, </a:t>
            </a:r>
            <a:r>
              <a:rPr lang="id-ID" i="1" dirty="0"/>
              <a:t>visual </a:t>
            </a:r>
            <a:r>
              <a:rPr lang="id-ID" i="1" dirty="0" err="1"/>
              <a:t>clutter</a:t>
            </a:r>
            <a:r>
              <a:rPr lang="id-ID" dirty="0"/>
              <a:t>, </a:t>
            </a:r>
            <a:r>
              <a:rPr lang="id-ID" i="1" dirty="0"/>
              <a:t>pop-</a:t>
            </a:r>
            <a:r>
              <a:rPr lang="id-ID" i="1" dirty="0" err="1"/>
              <a:t>up</a:t>
            </a:r>
            <a:r>
              <a:rPr lang="id-ID" dirty="0"/>
              <a:t>), tugas beban tinggi, tanpa intervensi. </a:t>
            </a:r>
          </a:p>
          <a:p>
            <a:pPr lvl="1"/>
            <a:r>
              <a:rPr lang="id-ID" i="1" dirty="0"/>
              <a:t>Skenario C (Adaptif):</a:t>
            </a:r>
            <a:r>
              <a:rPr lang="id-ID" dirty="0"/>
              <a:t> Web kompleks di awal, terintegrasi </a:t>
            </a:r>
            <a:r>
              <a:rPr lang="id-ID" dirty="0" err="1"/>
              <a:t>WebCog</a:t>
            </a:r>
            <a:r>
              <a:rPr lang="id-ID" dirty="0"/>
              <a:t>-Net yang akan melakukan </a:t>
            </a:r>
            <a:r>
              <a:rPr lang="id-ID" i="1" dirty="0"/>
              <a:t>visual </a:t>
            </a:r>
            <a:r>
              <a:rPr lang="id-ID" i="1" dirty="0" err="1"/>
              <a:t>decluttering</a:t>
            </a:r>
            <a:r>
              <a:rPr lang="id-ID" dirty="0"/>
              <a:t> secara otonom saat beban kognitif melonjak. </a:t>
            </a:r>
          </a:p>
          <a:p>
            <a:endParaRPr lang="id-ID" dirty="0"/>
          </a:p>
        </p:txBody>
      </p:sp>
    </p:spTree>
    <p:extLst>
      <p:ext uri="{BB962C8B-B14F-4D97-AF65-F5344CB8AC3E}">
        <p14:creationId xmlns:p14="http://schemas.microsoft.com/office/powerpoint/2010/main" val="146063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Judul 1">
            <a:extLst>
              <a:ext uri="{FF2B5EF4-FFF2-40B4-BE49-F238E27FC236}">
                <a16:creationId xmlns:a16="http://schemas.microsoft.com/office/drawing/2014/main" id="{E1C5D5CB-08CD-03DF-22A9-027502C1AFC1}"/>
              </a:ext>
            </a:extLst>
          </p:cNvPr>
          <p:cNvSpPr>
            <a:spLocks noGrp="1"/>
          </p:cNvSpPr>
          <p:nvPr>
            <p:ph type="title"/>
          </p:nvPr>
        </p:nvSpPr>
        <p:spPr>
          <a:xfrm>
            <a:off x="838200" y="401221"/>
            <a:ext cx="10515600" cy="1348065"/>
          </a:xfrm>
        </p:spPr>
        <p:txBody>
          <a:bodyPr>
            <a:normAutofit/>
          </a:bodyPr>
          <a:lstStyle/>
          <a:p>
            <a:r>
              <a:rPr lang="id-ID" sz="5400">
                <a:solidFill>
                  <a:srgbClr val="FFFFFF"/>
                </a:solidFill>
              </a:rPr>
              <a:t>Apa yang Harus Dikodekan</a:t>
            </a:r>
          </a:p>
        </p:txBody>
      </p:sp>
      <p:sp>
        <p:nvSpPr>
          <p:cNvPr id="3" name="Tampungan Konten 2">
            <a:extLst>
              <a:ext uri="{FF2B5EF4-FFF2-40B4-BE49-F238E27FC236}">
                <a16:creationId xmlns:a16="http://schemas.microsoft.com/office/drawing/2014/main" id="{912B1885-7335-7EB7-6331-5F07CCA40502}"/>
              </a:ext>
            </a:extLst>
          </p:cNvPr>
          <p:cNvSpPr>
            <a:spLocks noGrp="1"/>
          </p:cNvSpPr>
          <p:nvPr>
            <p:ph idx="1"/>
          </p:nvPr>
        </p:nvSpPr>
        <p:spPr>
          <a:xfrm>
            <a:off x="838200" y="2586789"/>
            <a:ext cx="10515600" cy="3590174"/>
          </a:xfrm>
        </p:spPr>
        <p:txBody>
          <a:bodyPr>
            <a:normAutofit lnSpcReduction="10000"/>
          </a:bodyPr>
          <a:lstStyle/>
          <a:p>
            <a:r>
              <a:rPr lang="id-ID" sz="2200" b="1" dirty="0"/>
              <a:t>Pembangunan </a:t>
            </a:r>
            <a:r>
              <a:rPr lang="id-ID" sz="2200" b="1" dirty="0" err="1"/>
              <a:t>Frontend</a:t>
            </a:r>
            <a:r>
              <a:rPr lang="id-ID" sz="2200" b="1" dirty="0"/>
              <a:t> &amp; Simulasi Antarmuka:</a:t>
            </a:r>
            <a:r>
              <a:rPr lang="id-ID" sz="2200" dirty="0"/>
              <a:t> Menyediakan halaman web untuk Skenario A, B, dan C. Integrasikan elemen pengganggu (iklan, </a:t>
            </a:r>
            <a:r>
              <a:rPr lang="id-ID" sz="2200" i="1" dirty="0"/>
              <a:t>pop-</a:t>
            </a:r>
            <a:r>
              <a:rPr lang="id-ID" sz="2200" i="1" dirty="0" err="1"/>
              <a:t>up</a:t>
            </a:r>
            <a:r>
              <a:rPr lang="id-ID" sz="2200" dirty="0"/>
              <a:t>) yang dapat dikontrol kelas atau manipulasi </a:t>
            </a:r>
            <a:r>
              <a:rPr lang="id-ID" sz="2200" dirty="0" err="1"/>
              <a:t>DOM-nya</a:t>
            </a:r>
            <a:r>
              <a:rPr lang="id-ID" sz="2200" dirty="0"/>
              <a:t>. </a:t>
            </a:r>
          </a:p>
          <a:p>
            <a:r>
              <a:rPr lang="id-ID" sz="2200" b="1" dirty="0" err="1"/>
              <a:t>Pipeline</a:t>
            </a:r>
            <a:r>
              <a:rPr lang="id-ID" sz="2200" b="1" dirty="0"/>
              <a:t> </a:t>
            </a:r>
            <a:r>
              <a:rPr lang="id-ID" sz="2200" b="1" dirty="0" err="1"/>
              <a:t>Computer</a:t>
            </a:r>
            <a:r>
              <a:rPr lang="id-ID" sz="2200" b="1" dirty="0"/>
              <a:t> Vision Sisi-Klien:</a:t>
            </a:r>
            <a:r>
              <a:rPr lang="id-ID" sz="2200" dirty="0"/>
              <a:t> * Integrasikan </a:t>
            </a:r>
            <a:r>
              <a:rPr lang="id-ID" sz="2200" b="1" dirty="0" err="1"/>
              <a:t>MediaPipe</a:t>
            </a:r>
            <a:r>
              <a:rPr lang="id-ID" sz="2200" b="1" dirty="0"/>
              <a:t> via </a:t>
            </a:r>
            <a:r>
              <a:rPr lang="id-ID" sz="2200" b="1" dirty="0" err="1"/>
              <a:t>WebAssembly</a:t>
            </a:r>
            <a:r>
              <a:rPr lang="id-ID" sz="2200" b="1" dirty="0"/>
              <a:t> (</a:t>
            </a:r>
            <a:r>
              <a:rPr lang="id-ID" sz="2200" b="1" dirty="0" err="1"/>
              <a:t>Wasm</a:t>
            </a:r>
            <a:r>
              <a:rPr lang="id-ID" sz="2200" b="1" dirty="0"/>
              <a:t>)</a:t>
            </a:r>
            <a:r>
              <a:rPr lang="id-ID" sz="2200" dirty="0"/>
              <a:t> untuk mendeteksi </a:t>
            </a:r>
            <a:r>
              <a:rPr lang="id-ID" sz="2200" i="1" dirty="0" err="1"/>
              <a:t>facial</a:t>
            </a:r>
            <a:r>
              <a:rPr lang="id-ID" sz="2200" i="1" dirty="0"/>
              <a:t> </a:t>
            </a:r>
            <a:r>
              <a:rPr lang="id-ID" sz="2200" i="1" dirty="0" err="1"/>
              <a:t>landmarks</a:t>
            </a:r>
            <a:r>
              <a:rPr lang="id-ID" sz="2200" dirty="0"/>
              <a:t> secara lokal pada browser. </a:t>
            </a:r>
          </a:p>
          <a:p>
            <a:pPr lvl="1"/>
            <a:r>
              <a:rPr lang="id-ID" sz="2200" dirty="0"/>
              <a:t>Buat fungsi </a:t>
            </a:r>
            <a:r>
              <a:rPr lang="id-ID" sz="2200" dirty="0" err="1"/>
              <a:t>JavaScript</a:t>
            </a:r>
            <a:r>
              <a:rPr lang="id-ID" sz="2200" dirty="0"/>
              <a:t> untuk menghitung nilai skalar </a:t>
            </a:r>
            <a:r>
              <a:rPr lang="id-ID" sz="2200" i="1" dirty="0" err="1"/>
              <a:t>Eye</a:t>
            </a:r>
            <a:r>
              <a:rPr lang="id-ID" sz="2200" i="1" dirty="0"/>
              <a:t> </a:t>
            </a:r>
            <a:r>
              <a:rPr lang="id-ID" sz="2200" i="1" dirty="0" err="1"/>
              <a:t>Aspect</a:t>
            </a:r>
            <a:r>
              <a:rPr lang="id-ID" sz="2200" i="1" dirty="0"/>
              <a:t> </a:t>
            </a:r>
            <a:r>
              <a:rPr lang="id-ID" sz="2200" i="1" dirty="0" err="1"/>
              <a:t>Ratio</a:t>
            </a:r>
            <a:r>
              <a:rPr lang="id-ID" sz="2200" dirty="0"/>
              <a:t> (EAR) dan </a:t>
            </a:r>
            <a:r>
              <a:rPr lang="id-ID" sz="2200" i="1" dirty="0" err="1"/>
              <a:t>Saccade</a:t>
            </a:r>
            <a:r>
              <a:rPr lang="id-ID" sz="2200" i="1" dirty="0"/>
              <a:t> </a:t>
            </a:r>
            <a:r>
              <a:rPr lang="id-ID" sz="2200" i="1" dirty="0" err="1"/>
              <a:t>Velocity</a:t>
            </a:r>
            <a:r>
              <a:rPr lang="id-ID" sz="2200" dirty="0"/>
              <a:t> per </a:t>
            </a:r>
            <a:r>
              <a:rPr lang="id-ID" sz="2200" dirty="0" err="1"/>
              <a:t>frame</a:t>
            </a:r>
            <a:r>
              <a:rPr lang="id-ID" sz="2200" dirty="0"/>
              <a:t>. </a:t>
            </a:r>
            <a:endParaRPr lang="en-US" sz="2200" dirty="0"/>
          </a:p>
          <a:p>
            <a:pPr lvl="1"/>
            <a:r>
              <a:rPr lang="en-US" sz="2200" dirty="0" err="1"/>
              <a:t>Mendeteksi</a:t>
            </a:r>
            <a:r>
              <a:rPr lang="en-US" sz="2200" dirty="0"/>
              <a:t> </a:t>
            </a:r>
            <a:r>
              <a:rPr lang="en-US" sz="2200" dirty="0" err="1"/>
              <a:t>arah</a:t>
            </a:r>
            <a:r>
              <a:rPr lang="en-US" sz="2200" dirty="0"/>
              <a:t> </a:t>
            </a:r>
            <a:r>
              <a:rPr lang="en-US" sz="2200" dirty="0" err="1"/>
              <a:t>fokus</a:t>
            </a:r>
            <a:r>
              <a:rPr lang="en-US" sz="2200" dirty="0"/>
              <a:t> </a:t>
            </a:r>
            <a:r>
              <a:rPr lang="en-US" sz="2200" dirty="0" err="1"/>
              <a:t>mata</a:t>
            </a:r>
            <a:r>
              <a:rPr lang="en-US" sz="2200" dirty="0"/>
              <a:t> pada </a:t>
            </a:r>
            <a:r>
              <a:rPr lang="en-US" sz="2200" dirty="0" err="1"/>
              <a:t>layar</a:t>
            </a:r>
            <a:r>
              <a:rPr lang="en-US" sz="2200" dirty="0"/>
              <a:t> monitor (area UI)</a:t>
            </a:r>
            <a:endParaRPr lang="id-ID" sz="2200" dirty="0"/>
          </a:p>
          <a:p>
            <a:r>
              <a:rPr lang="id-ID" sz="2200" b="1" dirty="0"/>
              <a:t>Sistem Data Agregasi (</a:t>
            </a:r>
            <a:r>
              <a:rPr lang="id-ID" sz="2200" b="1" i="1" dirty="0" err="1"/>
              <a:t>Sliding</a:t>
            </a:r>
            <a:r>
              <a:rPr lang="id-ID" sz="2200" b="1" i="1" dirty="0"/>
              <a:t> Window</a:t>
            </a:r>
            <a:r>
              <a:rPr lang="id-ID" sz="2200" b="1" dirty="0"/>
              <a:t>):</a:t>
            </a:r>
            <a:r>
              <a:rPr lang="id-ID" sz="2200" dirty="0"/>
              <a:t> Buat mekanisme antrean data (</a:t>
            </a:r>
            <a:r>
              <a:rPr lang="id-ID" sz="2200" i="1" dirty="0" err="1"/>
              <a:t>buffer</a:t>
            </a:r>
            <a:r>
              <a:rPr lang="id-ID" sz="2200" i="1" dirty="0"/>
              <a:t> </a:t>
            </a:r>
            <a:r>
              <a:rPr lang="id-ID" sz="2200" i="1" dirty="0" err="1"/>
              <a:t>loop</a:t>
            </a:r>
            <a:r>
              <a:rPr lang="id-ID" sz="2200" dirty="0"/>
              <a:t>) di </a:t>
            </a:r>
            <a:r>
              <a:rPr lang="id-ID" sz="2200" dirty="0" err="1"/>
              <a:t>JavaScript</a:t>
            </a:r>
            <a:r>
              <a:rPr lang="id-ID" sz="2200" dirty="0"/>
              <a:t> untuk mengumpulkan metrik okular dalam </a:t>
            </a:r>
            <a:r>
              <a:rPr lang="id-ID" sz="2200" i="1" dirty="0" err="1"/>
              <a:t>sliding</a:t>
            </a:r>
            <a:r>
              <a:rPr lang="id-ID" sz="2200" i="1" dirty="0"/>
              <a:t> </a:t>
            </a:r>
            <a:r>
              <a:rPr lang="id-ID" sz="2200" i="1" dirty="0" err="1"/>
              <a:t>window</a:t>
            </a:r>
            <a:r>
              <a:rPr lang="id-ID" sz="2200" dirty="0"/>
              <a:t> berdurasi 5 detik (pada 30 </a:t>
            </a:r>
            <a:r>
              <a:rPr lang="id-ID" sz="2200" dirty="0" err="1"/>
              <a:t>fps</a:t>
            </a:r>
            <a:r>
              <a:rPr lang="id-ID" sz="2200" dirty="0"/>
              <a:t>, berarti 150 </a:t>
            </a:r>
            <a:r>
              <a:rPr lang="id-ID" sz="2200" dirty="0" err="1"/>
              <a:t>frame</a:t>
            </a:r>
            <a:r>
              <a:rPr lang="id-ID" sz="2200" dirty="0"/>
              <a:t> data per inferensi).</a:t>
            </a:r>
          </a:p>
          <a:p>
            <a:endParaRPr lang="id-ID" sz="2200" dirty="0"/>
          </a:p>
        </p:txBody>
      </p:sp>
    </p:spTree>
    <p:extLst>
      <p:ext uri="{BB962C8B-B14F-4D97-AF65-F5344CB8AC3E}">
        <p14:creationId xmlns:p14="http://schemas.microsoft.com/office/powerpoint/2010/main" val="339244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Judul 1">
            <a:extLst>
              <a:ext uri="{FF2B5EF4-FFF2-40B4-BE49-F238E27FC236}">
                <a16:creationId xmlns:a16="http://schemas.microsoft.com/office/drawing/2014/main" id="{03B71C30-01A5-4E0B-CE90-B5F8406E6615}"/>
              </a:ext>
            </a:extLst>
          </p:cNvPr>
          <p:cNvSpPr>
            <a:spLocks noGrp="1"/>
          </p:cNvSpPr>
          <p:nvPr>
            <p:ph type="title"/>
          </p:nvPr>
        </p:nvSpPr>
        <p:spPr>
          <a:xfrm>
            <a:off x="838200" y="401221"/>
            <a:ext cx="10515600" cy="1348065"/>
          </a:xfrm>
        </p:spPr>
        <p:txBody>
          <a:bodyPr>
            <a:normAutofit/>
          </a:bodyPr>
          <a:lstStyle/>
          <a:p>
            <a:r>
              <a:rPr lang="id-ID" sz="4200">
                <a:solidFill>
                  <a:srgbClr val="FFFFFF"/>
                </a:solidFill>
              </a:rPr>
              <a:t>Implementasi Jaringan WebCog-Net &amp; Optimasi Memori</a:t>
            </a:r>
          </a:p>
        </p:txBody>
      </p:sp>
      <p:sp>
        <p:nvSpPr>
          <p:cNvPr id="3" name="Tampungan Konten 2">
            <a:extLst>
              <a:ext uri="{FF2B5EF4-FFF2-40B4-BE49-F238E27FC236}">
                <a16:creationId xmlns:a16="http://schemas.microsoft.com/office/drawing/2014/main" id="{A20A8246-5878-D6D1-1BF8-10B5F5F04CE2}"/>
              </a:ext>
            </a:extLst>
          </p:cNvPr>
          <p:cNvSpPr>
            <a:spLocks noGrp="1"/>
          </p:cNvSpPr>
          <p:nvPr>
            <p:ph idx="1"/>
          </p:nvPr>
        </p:nvSpPr>
        <p:spPr>
          <a:xfrm>
            <a:off x="838200" y="2586789"/>
            <a:ext cx="10515600" cy="3869990"/>
          </a:xfrm>
        </p:spPr>
        <p:txBody>
          <a:bodyPr>
            <a:normAutofit/>
          </a:bodyPr>
          <a:lstStyle/>
          <a:p>
            <a:r>
              <a:rPr lang="id-ID" sz="2200" b="1" dirty="0" err="1"/>
              <a:t>Eksportasi</a:t>
            </a:r>
            <a:r>
              <a:rPr lang="id-ID" sz="2200" b="1" dirty="0"/>
              <a:t> Model:</a:t>
            </a:r>
            <a:r>
              <a:rPr lang="id-ID" sz="2200" dirty="0"/>
              <a:t> Model 1D CNN-GRU dilatih terlebih dahulu (menggunakan </a:t>
            </a:r>
            <a:r>
              <a:rPr lang="id-ID" sz="2200" dirty="0" err="1"/>
              <a:t>Python</a:t>
            </a:r>
            <a:r>
              <a:rPr lang="id-ID" sz="2200" dirty="0"/>
              <a:t>/Keras/</a:t>
            </a:r>
            <a:r>
              <a:rPr lang="id-ID" sz="2200" dirty="0" err="1"/>
              <a:t>TensorFlow</a:t>
            </a:r>
            <a:r>
              <a:rPr lang="id-ID" sz="2200" dirty="0"/>
              <a:t>), lalu dikonversi ke format JSON menggunakan pustaka </a:t>
            </a:r>
            <a:r>
              <a:rPr lang="id-ID" sz="2200" b="1" dirty="0"/>
              <a:t>TensorFlow.js </a:t>
            </a:r>
            <a:r>
              <a:rPr lang="id-ID" sz="2200" b="1" dirty="0" err="1"/>
              <a:t>Converter</a:t>
            </a:r>
            <a:r>
              <a:rPr lang="id-ID" sz="2200" dirty="0"/>
              <a:t>. </a:t>
            </a:r>
          </a:p>
          <a:p>
            <a:r>
              <a:rPr lang="id-ID" sz="2200" b="1" dirty="0"/>
              <a:t>Kuantisasi Bobot (</a:t>
            </a:r>
            <a:r>
              <a:rPr lang="id-ID" sz="2200" b="1" i="1" dirty="0" err="1"/>
              <a:t>Weight</a:t>
            </a:r>
            <a:r>
              <a:rPr lang="id-ID" sz="2200" b="1" i="1" dirty="0"/>
              <a:t> </a:t>
            </a:r>
            <a:r>
              <a:rPr lang="id-ID" sz="2200" b="1" i="1" dirty="0" err="1"/>
              <a:t>Quantization</a:t>
            </a:r>
            <a:r>
              <a:rPr lang="id-ID" sz="2200" b="1" dirty="0"/>
              <a:t>):</a:t>
            </a:r>
            <a:r>
              <a:rPr lang="id-ID" sz="2200" dirty="0"/>
              <a:t> </a:t>
            </a:r>
            <a:r>
              <a:rPr lang="en-US" sz="2200" dirty="0"/>
              <a:t>H</a:t>
            </a:r>
            <a:r>
              <a:rPr lang="id-ID" sz="2200" dirty="0"/>
              <a:t>arus menerapkan kompresi model (kuantisasi bobot) saat konversi agar ukuran total </a:t>
            </a:r>
            <a:r>
              <a:rPr lang="id-ID" sz="2200" dirty="0" err="1"/>
              <a:t>file</a:t>
            </a:r>
            <a:r>
              <a:rPr lang="id-ID" sz="2200" dirty="0"/>
              <a:t> model berada di bawah </a:t>
            </a:r>
            <a:r>
              <a:rPr lang="id-ID" sz="2200" b="1" dirty="0"/>
              <a:t>50 KB</a:t>
            </a:r>
            <a:r>
              <a:rPr lang="id-ID" sz="2200" dirty="0"/>
              <a:t>. </a:t>
            </a:r>
          </a:p>
          <a:p>
            <a:r>
              <a:rPr lang="id-ID" sz="2200" b="1" dirty="0"/>
              <a:t>Integrasi Kode Eksperimen:</a:t>
            </a:r>
            <a:endParaRPr lang="id-ID" sz="2200" dirty="0"/>
          </a:p>
          <a:p>
            <a:pPr lvl="1"/>
            <a:r>
              <a:rPr lang="id-ID" sz="2200" dirty="0"/>
              <a:t>Muat model di browser menggunakan </a:t>
            </a:r>
            <a:r>
              <a:rPr lang="id-ID" sz="2200" dirty="0" err="1"/>
              <a:t>tf.loadLayersModel</a:t>
            </a:r>
            <a:r>
              <a:rPr lang="id-ID" sz="2200" dirty="0"/>
              <a:t>().</a:t>
            </a:r>
          </a:p>
          <a:p>
            <a:pPr lvl="1"/>
            <a:r>
              <a:rPr lang="id-ID" sz="2200" dirty="0"/>
              <a:t>Tulis fungsi logika intervensi: Jika probabilitas hasil prediksi model &gt; ambang batas (stres tinggi), panggil fungsi </a:t>
            </a:r>
            <a:r>
              <a:rPr lang="id-ID" sz="2200" i="1" dirty="0"/>
              <a:t>Visual </a:t>
            </a:r>
            <a:r>
              <a:rPr lang="id-ID" sz="2200" i="1" dirty="0" err="1"/>
              <a:t>Decluttering</a:t>
            </a:r>
            <a:r>
              <a:rPr lang="id-ID" sz="2200" dirty="0"/>
              <a:t> untuk memanipulasi kelas DOM.</a:t>
            </a:r>
          </a:p>
          <a:p>
            <a:endParaRPr lang="id-ID" sz="2200" dirty="0"/>
          </a:p>
        </p:txBody>
      </p:sp>
    </p:spTree>
    <p:extLst>
      <p:ext uri="{BB962C8B-B14F-4D97-AF65-F5344CB8AC3E}">
        <p14:creationId xmlns:p14="http://schemas.microsoft.com/office/powerpoint/2010/main" val="3617258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Judul 1">
            <a:extLst>
              <a:ext uri="{FF2B5EF4-FFF2-40B4-BE49-F238E27FC236}">
                <a16:creationId xmlns:a16="http://schemas.microsoft.com/office/drawing/2014/main" id="{5A631576-6B8E-6124-E2A8-0A8A972D2BD9}"/>
              </a:ext>
            </a:extLst>
          </p:cNvPr>
          <p:cNvSpPr>
            <a:spLocks noGrp="1"/>
          </p:cNvSpPr>
          <p:nvPr>
            <p:ph type="title"/>
          </p:nvPr>
        </p:nvSpPr>
        <p:spPr>
          <a:xfrm>
            <a:off x="838200" y="401221"/>
            <a:ext cx="10515600" cy="1348065"/>
          </a:xfrm>
        </p:spPr>
        <p:txBody>
          <a:bodyPr>
            <a:normAutofit/>
          </a:bodyPr>
          <a:lstStyle/>
          <a:p>
            <a:r>
              <a:rPr lang="id-ID" sz="4200">
                <a:solidFill>
                  <a:srgbClr val="FFFFFF"/>
                </a:solidFill>
              </a:rPr>
              <a:t>Alur Pemrosesan Data Real-Time (Closed-Loop)</a:t>
            </a:r>
          </a:p>
        </p:txBody>
      </p:sp>
      <p:sp>
        <p:nvSpPr>
          <p:cNvPr id="3" name="Tampungan Konten 2">
            <a:extLst>
              <a:ext uri="{FF2B5EF4-FFF2-40B4-BE49-F238E27FC236}">
                <a16:creationId xmlns:a16="http://schemas.microsoft.com/office/drawing/2014/main" id="{C199494D-2989-F78A-C774-FF4383E346A2}"/>
              </a:ext>
            </a:extLst>
          </p:cNvPr>
          <p:cNvSpPr>
            <a:spLocks noGrp="1"/>
          </p:cNvSpPr>
          <p:nvPr>
            <p:ph idx="1"/>
          </p:nvPr>
        </p:nvSpPr>
        <p:spPr>
          <a:xfrm>
            <a:off x="838200" y="2586789"/>
            <a:ext cx="10515600" cy="3590174"/>
          </a:xfrm>
        </p:spPr>
        <p:txBody>
          <a:bodyPr>
            <a:normAutofit/>
          </a:bodyPr>
          <a:lstStyle/>
          <a:p>
            <a:r>
              <a:rPr lang="id-ID" sz="2000" b="1" dirty="0" err="1"/>
              <a:t>Input</a:t>
            </a:r>
            <a:r>
              <a:rPr lang="id-ID" sz="2000" b="1" dirty="0"/>
              <a:t>:</a:t>
            </a:r>
            <a:r>
              <a:rPr lang="id-ID" sz="2000" dirty="0"/>
              <a:t> Kamera web menangkap video wajah </a:t>
            </a:r>
            <a:r>
              <a:rPr lang="en-US" sz="2000" dirty="0"/>
              <a:t>dan retina </a:t>
            </a:r>
            <a:r>
              <a:rPr lang="en-US" sz="2000" dirty="0" err="1"/>
              <a:t>mata</a:t>
            </a:r>
            <a:r>
              <a:rPr lang="id-ID" sz="2000" dirty="0"/>
              <a:t> pengguna</a:t>
            </a:r>
            <a:r>
              <a:rPr lang="en-US" sz="2000" dirty="0"/>
              <a:t> </a:t>
            </a:r>
            <a:r>
              <a:rPr lang="id-ID" sz="2000" dirty="0"/>
              <a:t>(resolusi target 720p pada 30 </a:t>
            </a:r>
            <a:r>
              <a:rPr lang="id-ID" sz="2000" dirty="0" err="1"/>
              <a:t>fps</a:t>
            </a:r>
            <a:r>
              <a:rPr lang="id-ID" sz="2000" dirty="0"/>
              <a:t>). </a:t>
            </a:r>
          </a:p>
          <a:p>
            <a:r>
              <a:rPr lang="id-ID" sz="2000" b="1" dirty="0"/>
              <a:t>Pemrosesan </a:t>
            </a:r>
            <a:r>
              <a:rPr lang="id-ID" sz="2000" b="1" dirty="0" err="1"/>
              <a:t>Landmark</a:t>
            </a:r>
            <a:r>
              <a:rPr lang="id-ID" sz="2000" b="1" dirty="0"/>
              <a:t>:</a:t>
            </a:r>
            <a:r>
              <a:rPr lang="id-ID" sz="2000" dirty="0"/>
              <a:t> </a:t>
            </a:r>
            <a:r>
              <a:rPr lang="id-ID" sz="2000" dirty="0" err="1"/>
              <a:t>MediaPipe</a:t>
            </a:r>
            <a:r>
              <a:rPr lang="id-ID" sz="2000" dirty="0"/>
              <a:t> (</a:t>
            </a:r>
            <a:r>
              <a:rPr lang="id-ID" sz="2000" dirty="0" err="1"/>
              <a:t>Wasm</a:t>
            </a:r>
            <a:r>
              <a:rPr lang="id-ID" sz="2000" dirty="0"/>
              <a:t>) mengekstraksi koordinat mata secara lokal di memori browser. </a:t>
            </a:r>
          </a:p>
          <a:p>
            <a:r>
              <a:rPr lang="id-ID" sz="2000" b="1" dirty="0"/>
              <a:t>Ekstraksi Fitur:</a:t>
            </a:r>
            <a:r>
              <a:rPr lang="id-ID" sz="2000" dirty="0"/>
              <a:t> </a:t>
            </a:r>
            <a:r>
              <a:rPr lang="id-ID" sz="2000" dirty="0" err="1"/>
              <a:t>JavaScript</a:t>
            </a:r>
            <a:r>
              <a:rPr lang="id-ID" sz="2000" dirty="0"/>
              <a:t> menghitung metrik EAR dan kecepatan gerakan mata (</a:t>
            </a:r>
            <a:r>
              <a:rPr lang="id-ID" sz="2000" i="1" dirty="0" err="1"/>
              <a:t>saccade</a:t>
            </a:r>
            <a:r>
              <a:rPr lang="id-ID" sz="2000" dirty="0"/>
              <a:t>). </a:t>
            </a:r>
          </a:p>
          <a:p>
            <a:r>
              <a:rPr lang="id-ID" sz="2000" b="1" dirty="0"/>
              <a:t>Inferensi Al:</a:t>
            </a:r>
            <a:r>
              <a:rPr lang="id-ID" sz="2000" dirty="0"/>
              <a:t> Paket data jendela waktu 5 detik dimasukkan ke model TensorFlow.js. </a:t>
            </a:r>
          </a:p>
          <a:p>
            <a:r>
              <a:rPr lang="id-ID" sz="2000" b="1" dirty="0" err="1"/>
              <a:t>Aktuasi</a:t>
            </a:r>
            <a:r>
              <a:rPr lang="id-ID" sz="2000" b="1" dirty="0"/>
              <a:t> Antarmuka:</a:t>
            </a:r>
            <a:r>
              <a:rPr lang="id-ID" sz="2000" dirty="0"/>
              <a:t> Jika terdeteksi </a:t>
            </a:r>
            <a:r>
              <a:rPr lang="id-ID" sz="2000" i="1" dirty="0" err="1"/>
              <a:t>overload</a:t>
            </a:r>
            <a:r>
              <a:rPr lang="id-ID" sz="2000" dirty="0"/>
              <a:t>, skrip memanipulasi DOM untuk meredupkan/menyembunyikan elemen sekunder. </a:t>
            </a:r>
          </a:p>
          <a:p>
            <a:r>
              <a:rPr lang="id-ID" sz="2000" i="1" dirty="0"/>
              <a:t>Catatan Penting:</a:t>
            </a:r>
            <a:r>
              <a:rPr lang="id-ID" sz="2000" dirty="0"/>
              <a:t> Seluruh rangkaian ini harus berjalan dengan latensi inferensi di bawah </a:t>
            </a:r>
            <a:r>
              <a:rPr lang="id-ID" sz="2000" b="1" dirty="0"/>
              <a:t>5 </a:t>
            </a:r>
            <a:r>
              <a:rPr lang="id-ID" sz="2000" b="1" dirty="0" err="1"/>
              <a:t>milidetik</a:t>
            </a:r>
            <a:r>
              <a:rPr lang="id-ID" sz="2000" dirty="0"/>
              <a:t> per </a:t>
            </a:r>
            <a:r>
              <a:rPr lang="id-ID" sz="2000" dirty="0" err="1"/>
              <a:t>frame</a:t>
            </a:r>
            <a:r>
              <a:rPr lang="id-ID" sz="2000" dirty="0"/>
              <a:t>.</a:t>
            </a:r>
          </a:p>
          <a:p>
            <a:pPr marL="0" indent="0">
              <a:buNone/>
            </a:pPr>
            <a:endParaRPr lang="id-ID" sz="2000" dirty="0"/>
          </a:p>
        </p:txBody>
      </p:sp>
    </p:spTree>
    <p:extLst>
      <p:ext uri="{BB962C8B-B14F-4D97-AF65-F5344CB8AC3E}">
        <p14:creationId xmlns:p14="http://schemas.microsoft.com/office/powerpoint/2010/main" val="3637000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Judul 1">
            <a:extLst>
              <a:ext uri="{FF2B5EF4-FFF2-40B4-BE49-F238E27FC236}">
                <a16:creationId xmlns:a16="http://schemas.microsoft.com/office/drawing/2014/main" id="{CD2C97D8-B055-7BBD-1715-CA7B046BE8A8}"/>
              </a:ext>
            </a:extLst>
          </p:cNvPr>
          <p:cNvSpPr>
            <a:spLocks noGrp="1"/>
          </p:cNvSpPr>
          <p:nvPr>
            <p:ph type="title"/>
          </p:nvPr>
        </p:nvSpPr>
        <p:spPr>
          <a:xfrm>
            <a:off x="1371599" y="294538"/>
            <a:ext cx="9895951" cy="1033669"/>
          </a:xfrm>
        </p:spPr>
        <p:txBody>
          <a:bodyPr>
            <a:normAutofit/>
          </a:bodyPr>
          <a:lstStyle/>
          <a:p>
            <a:r>
              <a:rPr lang="id-ID" sz="4000">
                <a:solidFill>
                  <a:srgbClr val="FFFFFF"/>
                </a:solidFill>
              </a:rPr>
              <a:t>Prosedur Pengujian Aplikasi &amp; Analisis Statistik</a:t>
            </a:r>
          </a:p>
        </p:txBody>
      </p:sp>
      <p:sp>
        <p:nvSpPr>
          <p:cNvPr id="3" name="Tampungan Konten 2">
            <a:extLst>
              <a:ext uri="{FF2B5EF4-FFF2-40B4-BE49-F238E27FC236}">
                <a16:creationId xmlns:a16="http://schemas.microsoft.com/office/drawing/2014/main" id="{4C02AD3E-BAE5-D0C4-EE77-7B8D68C3028B}"/>
              </a:ext>
            </a:extLst>
          </p:cNvPr>
          <p:cNvSpPr>
            <a:spLocks noGrp="1"/>
          </p:cNvSpPr>
          <p:nvPr>
            <p:ph idx="1"/>
          </p:nvPr>
        </p:nvSpPr>
        <p:spPr>
          <a:xfrm>
            <a:off x="742123" y="1891970"/>
            <a:ext cx="11065564" cy="4575091"/>
          </a:xfrm>
        </p:spPr>
        <p:txBody>
          <a:bodyPr anchor="ctr">
            <a:normAutofit/>
          </a:bodyPr>
          <a:lstStyle/>
          <a:p>
            <a:r>
              <a:rPr lang="id-ID" sz="2000" b="1" dirty="0"/>
              <a:t>Evaluasi Teknis (Menguji H1):</a:t>
            </a:r>
            <a:endParaRPr lang="id-ID" sz="2000" dirty="0"/>
          </a:p>
          <a:p>
            <a:pPr lvl="1"/>
            <a:r>
              <a:rPr lang="en-US" sz="2000" dirty="0" err="1"/>
              <a:t>Menggu</a:t>
            </a:r>
            <a:r>
              <a:rPr lang="id-ID" sz="2000" dirty="0" err="1"/>
              <a:t>unakan</a:t>
            </a:r>
            <a:r>
              <a:rPr lang="id-ID" sz="2000" dirty="0"/>
              <a:t> fungsi bawaan </a:t>
            </a:r>
            <a:r>
              <a:rPr lang="id-ID" sz="2000" dirty="0" err="1"/>
              <a:t>JavaScript</a:t>
            </a:r>
            <a:r>
              <a:rPr lang="id-ID" sz="2000" dirty="0"/>
              <a:t> </a:t>
            </a:r>
            <a:r>
              <a:rPr lang="id-ID" sz="2000" dirty="0" err="1"/>
              <a:t>performance.now</a:t>
            </a:r>
            <a:r>
              <a:rPr lang="id-ID" sz="2000" dirty="0"/>
              <a:t>() untuk mengukur durasi eksekusi inferensi model. </a:t>
            </a:r>
          </a:p>
          <a:p>
            <a:pPr lvl="1"/>
            <a:r>
              <a:rPr lang="en-US" sz="2000" dirty="0"/>
              <a:t>Mem</a:t>
            </a:r>
            <a:r>
              <a:rPr lang="id-ID" sz="2000" dirty="0" err="1"/>
              <a:t>antau</a:t>
            </a:r>
            <a:r>
              <a:rPr lang="id-ID" sz="2000" dirty="0"/>
              <a:t> panel </a:t>
            </a:r>
            <a:r>
              <a:rPr lang="id-ID" sz="2000" i="1" dirty="0"/>
              <a:t>Network</a:t>
            </a:r>
            <a:r>
              <a:rPr lang="id-ID" sz="2000" dirty="0"/>
              <a:t> pada </a:t>
            </a:r>
            <a:r>
              <a:rPr lang="id-ID" sz="2000" i="1" dirty="0"/>
              <a:t>Developer </a:t>
            </a:r>
            <a:r>
              <a:rPr lang="id-ID" sz="2000" i="1" dirty="0" err="1"/>
              <a:t>Tools</a:t>
            </a:r>
            <a:r>
              <a:rPr lang="id-ID" sz="2000" dirty="0"/>
              <a:t> browser untuk memverifikasi ukuran model asli saat dimuat. </a:t>
            </a:r>
          </a:p>
          <a:p>
            <a:pPr lvl="1"/>
            <a:r>
              <a:rPr lang="en-US" sz="2000" dirty="0"/>
              <a:t>Mel</a:t>
            </a:r>
            <a:r>
              <a:rPr lang="id-ID" sz="2000" dirty="0"/>
              <a:t>akukan validasi akurasi klasifikasi dengan teknik </a:t>
            </a:r>
            <a:r>
              <a:rPr lang="id-ID" sz="2000" i="1" dirty="0"/>
              <a:t>k-</a:t>
            </a:r>
            <a:r>
              <a:rPr lang="id-ID" sz="2000" i="1" dirty="0" err="1"/>
              <a:t>fold</a:t>
            </a:r>
            <a:r>
              <a:rPr lang="id-ID" sz="2000" i="1" dirty="0"/>
              <a:t> </a:t>
            </a:r>
            <a:r>
              <a:rPr lang="id-ID" sz="2000" i="1" dirty="0" err="1"/>
              <a:t>cross-validation</a:t>
            </a:r>
            <a:r>
              <a:rPr lang="id-ID" sz="2000" dirty="0"/>
              <a:t>. </a:t>
            </a:r>
          </a:p>
          <a:p>
            <a:r>
              <a:rPr lang="id-ID" sz="2000" b="1" dirty="0"/>
              <a:t>Evaluasi Pengalaman Pengguna / UX (Menguji H2 &amp; H3):</a:t>
            </a:r>
            <a:endParaRPr lang="id-ID" sz="2000" dirty="0"/>
          </a:p>
          <a:p>
            <a:pPr lvl="1"/>
            <a:r>
              <a:rPr lang="id-ID" sz="2000" dirty="0"/>
              <a:t>Rekam </a:t>
            </a:r>
            <a:r>
              <a:rPr lang="id-ID" sz="2000" i="1" dirty="0" err="1"/>
              <a:t>Task</a:t>
            </a:r>
            <a:r>
              <a:rPr lang="id-ID" sz="2000" i="1" dirty="0"/>
              <a:t> </a:t>
            </a:r>
            <a:r>
              <a:rPr lang="id-ID" sz="2000" i="1" dirty="0" err="1"/>
              <a:t>Completion</a:t>
            </a:r>
            <a:r>
              <a:rPr lang="id-ID" sz="2000" i="1" dirty="0"/>
              <a:t> </a:t>
            </a:r>
            <a:r>
              <a:rPr lang="id-ID" sz="2000" i="1" dirty="0" err="1"/>
              <a:t>Time</a:t>
            </a:r>
            <a:r>
              <a:rPr lang="id-ID" sz="2000" dirty="0"/>
              <a:t> (Waktu Penyelesaian Tugas) secara otomatis oleh sistem. </a:t>
            </a:r>
          </a:p>
          <a:p>
            <a:pPr lvl="1"/>
            <a:r>
              <a:rPr lang="id-ID" sz="2000" dirty="0"/>
              <a:t>Sediakan </a:t>
            </a:r>
            <a:r>
              <a:rPr lang="id-ID" sz="2000" dirty="0" err="1"/>
              <a:t>form</a:t>
            </a:r>
            <a:r>
              <a:rPr lang="id-ID" sz="2000" dirty="0"/>
              <a:t> digital kuesioner </a:t>
            </a:r>
            <a:r>
              <a:rPr lang="id-ID" sz="2000" b="1" dirty="0" err="1"/>
              <a:t>Raw</a:t>
            </a:r>
            <a:r>
              <a:rPr lang="id-ID" sz="2000" b="1" dirty="0"/>
              <a:t> NASA-TLX (RTLX)</a:t>
            </a:r>
            <a:r>
              <a:rPr lang="id-ID" sz="2000" dirty="0"/>
              <a:t> segera setelah partisipan menyelesaikan setiap skenario untuk mengukur 6 dimensi beban mental. </a:t>
            </a:r>
          </a:p>
          <a:p>
            <a:r>
              <a:rPr lang="id-ID" sz="2000" b="1" dirty="0"/>
              <a:t>Analisis Statistik Akhir:</a:t>
            </a:r>
            <a:r>
              <a:rPr lang="id-ID" sz="2000" dirty="0"/>
              <a:t> Data diolah dengan SPSS menggunakan </a:t>
            </a:r>
            <a:r>
              <a:rPr lang="id-ID" sz="2000" i="1" dirty="0" err="1"/>
              <a:t>Repeated</a:t>
            </a:r>
            <a:r>
              <a:rPr lang="id-ID" sz="2000" i="1" dirty="0"/>
              <a:t> </a:t>
            </a:r>
            <a:r>
              <a:rPr lang="id-ID" sz="2000" i="1" dirty="0" err="1"/>
              <a:t>Measures</a:t>
            </a:r>
            <a:r>
              <a:rPr lang="id-ID" sz="2000" i="1" dirty="0"/>
              <a:t> ANOVA</a:t>
            </a:r>
            <a:r>
              <a:rPr lang="id-ID" sz="2000" dirty="0"/>
              <a:t> (jika </a:t>
            </a:r>
            <a:r>
              <a:rPr lang="id-ID" sz="2000" dirty="0" err="1"/>
              <a:t>berdistribusi</a:t>
            </a:r>
            <a:r>
              <a:rPr lang="id-ID" sz="2000" dirty="0"/>
              <a:t> normal lewat uji </a:t>
            </a:r>
            <a:r>
              <a:rPr lang="id-ID" sz="2000" dirty="0" err="1"/>
              <a:t>Shapiro-Wilk</a:t>
            </a:r>
            <a:r>
              <a:rPr lang="id-ID" sz="2000" dirty="0"/>
              <a:t>) dan uji lanjut </a:t>
            </a:r>
            <a:r>
              <a:rPr lang="id-ID" sz="2000" i="1" dirty="0" err="1"/>
              <a:t>Paired-Samples</a:t>
            </a:r>
            <a:r>
              <a:rPr lang="id-ID" sz="2000" i="1" dirty="0"/>
              <a:t> T-</a:t>
            </a:r>
            <a:r>
              <a:rPr lang="id-ID" sz="2000" i="1" dirty="0" err="1"/>
              <a:t>Test</a:t>
            </a:r>
            <a:r>
              <a:rPr lang="id-ID" sz="2000" dirty="0"/>
              <a:t> pada tingkat signifikansi </a:t>
            </a:r>
            <a:r>
              <a:rPr lang="en-US" sz="2000" dirty="0"/>
              <a:t> </a:t>
            </a:r>
            <a:r>
              <a:rPr lang="el-GR" sz="2000" dirty="0"/>
              <a:t>α</a:t>
            </a:r>
            <a:r>
              <a:rPr lang="id-ID" sz="2000" dirty="0"/>
              <a:t>= 0.05. </a:t>
            </a:r>
          </a:p>
          <a:p>
            <a:endParaRPr lang="id-ID" sz="2000" dirty="0"/>
          </a:p>
        </p:txBody>
      </p:sp>
    </p:spTree>
    <p:extLst>
      <p:ext uri="{BB962C8B-B14F-4D97-AF65-F5344CB8AC3E}">
        <p14:creationId xmlns:p14="http://schemas.microsoft.com/office/powerpoint/2010/main" val="3628170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Tampungan Konten 8">
            <a:extLst>
              <a:ext uri="{FF2B5EF4-FFF2-40B4-BE49-F238E27FC236}">
                <a16:creationId xmlns:a16="http://schemas.microsoft.com/office/drawing/2014/main" id="{C298122E-ED09-FF02-2D9E-C12B4440BB24}"/>
              </a:ext>
            </a:extLst>
          </p:cNvPr>
          <p:cNvPicPr>
            <a:picLocks noGrp="1" noChangeAspect="1"/>
          </p:cNvPicPr>
          <p:nvPr>
            <p:ph idx="1"/>
          </p:nvPr>
        </p:nvPicPr>
        <p:blipFill>
          <a:blip r:embed="rId2"/>
          <a:srcRect b="13478"/>
          <a:stretch>
            <a:fillRect/>
          </a:stretch>
        </p:blipFill>
        <p:spPr>
          <a:xfrm>
            <a:off x="20" y="1282"/>
            <a:ext cx="12191980" cy="6856718"/>
          </a:xfrm>
          <a:prstGeom prst="rect">
            <a:avLst/>
          </a:prstGeom>
        </p:spPr>
      </p:pic>
    </p:spTree>
    <p:extLst>
      <p:ext uri="{BB962C8B-B14F-4D97-AF65-F5344CB8AC3E}">
        <p14:creationId xmlns:p14="http://schemas.microsoft.com/office/powerpoint/2010/main" val="512469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ambar 2">
            <a:extLst>
              <a:ext uri="{FF2B5EF4-FFF2-40B4-BE49-F238E27FC236}">
                <a16:creationId xmlns:a16="http://schemas.microsoft.com/office/drawing/2014/main" id="{8D3D625E-A65D-FEDD-B1A2-0A029F1A009D}"/>
              </a:ext>
            </a:extLst>
          </p:cNvPr>
          <p:cNvPicPr>
            <a:picLocks noChangeAspect="1"/>
          </p:cNvPicPr>
          <p:nvPr/>
        </p:nvPicPr>
        <p:blipFill>
          <a:blip r:embed="rId2"/>
          <a:stretch>
            <a:fillRect/>
          </a:stretch>
        </p:blipFill>
        <p:spPr>
          <a:xfrm>
            <a:off x="291462" y="-1"/>
            <a:ext cx="11635495" cy="6758609"/>
          </a:xfrm>
          <a:prstGeom prst="rect">
            <a:avLst/>
          </a:prstGeom>
        </p:spPr>
      </p:pic>
      <p:pic>
        <p:nvPicPr>
          <p:cNvPr id="4" name="Gambar 3">
            <a:extLst>
              <a:ext uri="{FF2B5EF4-FFF2-40B4-BE49-F238E27FC236}">
                <a16:creationId xmlns:a16="http://schemas.microsoft.com/office/drawing/2014/main" id="{0FAA0500-C793-F8B4-7A0F-9AB5A74A48DA}"/>
              </a:ext>
            </a:extLst>
          </p:cNvPr>
          <p:cNvPicPr>
            <a:picLocks noChangeAspect="1"/>
          </p:cNvPicPr>
          <p:nvPr/>
        </p:nvPicPr>
        <p:blipFill>
          <a:blip r:embed="rId3"/>
          <a:stretch>
            <a:fillRect/>
          </a:stretch>
        </p:blipFill>
        <p:spPr>
          <a:xfrm>
            <a:off x="4032465" y="2078194"/>
            <a:ext cx="2724595" cy="3360706"/>
          </a:xfrm>
          <a:prstGeom prst="rect">
            <a:avLst/>
          </a:prstGeom>
        </p:spPr>
      </p:pic>
    </p:spTree>
    <p:extLst>
      <p:ext uri="{BB962C8B-B14F-4D97-AF65-F5344CB8AC3E}">
        <p14:creationId xmlns:p14="http://schemas.microsoft.com/office/powerpoint/2010/main" val="3767956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Judul 1">
            <a:extLst>
              <a:ext uri="{FF2B5EF4-FFF2-40B4-BE49-F238E27FC236}">
                <a16:creationId xmlns:a16="http://schemas.microsoft.com/office/drawing/2014/main" id="{ABDDD9D3-3A0F-80C4-1609-4EE6E4EE276A}"/>
              </a:ext>
            </a:extLst>
          </p:cNvPr>
          <p:cNvSpPr>
            <a:spLocks noGrp="1"/>
          </p:cNvSpPr>
          <p:nvPr>
            <p:ph type="title"/>
          </p:nvPr>
        </p:nvSpPr>
        <p:spPr>
          <a:xfrm>
            <a:off x="838200" y="365125"/>
            <a:ext cx="10515600" cy="1325563"/>
          </a:xfrm>
        </p:spPr>
        <p:txBody>
          <a:bodyPr>
            <a:normAutofit/>
          </a:bodyPr>
          <a:lstStyle/>
          <a:p>
            <a:r>
              <a:rPr lang="id-ID" sz="5400"/>
              <a:t>Analisis Transisi Intervensi</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ampungan Konten 2">
            <a:extLst>
              <a:ext uri="{FF2B5EF4-FFF2-40B4-BE49-F238E27FC236}">
                <a16:creationId xmlns:a16="http://schemas.microsoft.com/office/drawing/2014/main" id="{65605FB2-638D-9C17-DD03-A107219F952D}"/>
              </a:ext>
            </a:extLst>
          </p:cNvPr>
          <p:cNvSpPr>
            <a:spLocks noGrp="1"/>
          </p:cNvSpPr>
          <p:nvPr>
            <p:ph idx="1"/>
          </p:nvPr>
        </p:nvSpPr>
        <p:spPr>
          <a:xfrm>
            <a:off x="499872" y="1929384"/>
            <a:ext cx="11228302" cy="4686630"/>
          </a:xfrm>
        </p:spPr>
        <p:txBody>
          <a:bodyPr>
            <a:normAutofit lnSpcReduction="10000"/>
          </a:bodyPr>
          <a:lstStyle/>
          <a:p>
            <a:r>
              <a:rPr lang="id-ID" sz="1600" b="1"/>
              <a:t>Notifikasi Transparan Sistem (</a:t>
            </a:r>
            <a:r>
              <a:rPr lang="id-ID" sz="1600" b="1" i="1"/>
              <a:t>Green Notification Bar</a:t>
            </a:r>
            <a:r>
              <a:rPr lang="id-ID" sz="1600" b="1"/>
              <a:t>):</a:t>
            </a:r>
            <a:r>
              <a:rPr lang="id-ID" sz="1600"/>
              <a:t> Pada bagian atas halaman, muncul bar notifikasi berwarna hijau lembut. Ini menandakan bahwa sistem </a:t>
            </a:r>
            <a:r>
              <a:rPr lang="id-ID" sz="1600" i="1"/>
              <a:t>closed-loop</a:t>
            </a:r>
            <a:r>
              <a:rPr lang="id-ID" sz="1600"/>
              <a:t> WebCog-Net telah mendeteksi gejala beban kerja mental berlebih (stres kognitif) melalui pelacakan webcam lokal, dan memberikan transparansi informasi kepada pengguna bahwa antarmuka saat ini telah disesuaikan demi kenyamanan mereka.</a:t>
            </a:r>
          </a:p>
          <a:p>
            <a:r>
              <a:rPr lang="id-ID" sz="1600" b="1"/>
              <a:t>Eliminasi Total Distraksi Visual (</a:t>
            </a:r>
            <a:r>
              <a:rPr lang="id-ID" sz="1600" b="1" i="1"/>
              <a:t>Sidebar &amp; Pop-up Purging</a:t>
            </a:r>
            <a:r>
              <a:rPr lang="id-ID" sz="1600" b="1"/>
              <a:t>):</a:t>
            </a:r>
            <a:r>
              <a:rPr lang="id-ID" sz="1600"/>
              <a:t> Seluruh elemen pengganggu yang ada di skenario kompleks sebelumnya (seperti </a:t>
            </a:r>
            <a:r>
              <a:rPr lang="id-ID" sz="1600" i="1"/>
              <a:t>game roda berputar</a:t>
            </a:r>
            <a:r>
              <a:rPr lang="id-ID" sz="1600"/>
              <a:t>, </a:t>
            </a:r>
            <a:r>
              <a:rPr lang="id-ID" sz="1600" i="1"/>
              <a:t>live streaming video</a:t>
            </a:r>
            <a:r>
              <a:rPr lang="id-ID" sz="1600"/>
              <a:t>, </a:t>
            </a:r>
            <a:r>
              <a:rPr lang="id-ID" sz="1600" i="1"/>
              <a:t>pop-up voucher</a:t>
            </a:r>
            <a:r>
              <a:rPr lang="id-ID" sz="1600"/>
              <a:t> yang menutupi layar, dan iklan sponsor) </a:t>
            </a:r>
            <a:r>
              <a:rPr lang="id-ID" sz="1600" b="1"/>
              <a:t>dihilangkan secara mutlak</a:t>
            </a:r>
            <a:r>
              <a:rPr lang="id-ID" sz="1600"/>
              <a:t> dari struktur DOM (</a:t>
            </a:r>
            <a:r>
              <a:rPr lang="id-ID" sz="1600" i="1"/>
              <a:t>Document Object Model</a:t>
            </a:r>
            <a:r>
              <a:rPr lang="id-ID" sz="1600"/>
              <a:t>) menggunakan manipulasi kelas CSS. Ruang kosong kiri diubah menjadi area netral (</a:t>
            </a:r>
            <a:r>
              <a:rPr lang="id-ID" sz="1600" i="1"/>
              <a:t>whitespace</a:t>
            </a:r>
            <a:r>
              <a:rPr lang="id-ID" sz="1600"/>
              <a:t>) untuk mengistirahatkan mata pengguna (</a:t>
            </a:r>
            <a:r>
              <a:rPr lang="id-ID" sz="1600" i="1"/>
              <a:t>visual resting space</a:t>
            </a:r>
            <a:r>
              <a:rPr lang="id-ID" sz="1600"/>
              <a:t>).</a:t>
            </a:r>
          </a:p>
          <a:p>
            <a:r>
              <a:rPr lang="id-ID" sz="1600" b="1"/>
              <a:t>Pemberlakuan Efek </a:t>
            </a:r>
            <a:r>
              <a:rPr lang="id-ID" sz="1600" b="1" i="1"/>
              <a:t>FOMO Suppression</a:t>
            </a:r>
            <a:r>
              <a:rPr lang="id-ID" sz="1600" b="1"/>
              <a:t>:</a:t>
            </a:r>
            <a:r>
              <a:rPr lang="id-ID" sz="1600"/>
              <a:t> Papan peringatan bawah (</a:t>
            </a:r>
            <a:r>
              <a:rPr lang="id-ID" sz="1600" i="1"/>
              <a:t>sticky counter</a:t>
            </a:r>
            <a:r>
              <a:rPr lang="id-ID" sz="1600"/>
              <a:t>) yang memicu kepanikan psikologis seperti </a:t>
            </a:r>
            <a:r>
              <a:rPr lang="id-ID" sz="1600" i="1"/>
              <a:t>"Sisa stok tinggal 3 buah! Cepat beli!"</a:t>
            </a:r>
            <a:r>
              <a:rPr lang="id-ID" sz="1600"/>
              <a:t> dihapus oleh sistem. Pengurangan tekanan waktu (</a:t>
            </a:r>
            <a:r>
              <a:rPr lang="id-ID" sz="1600" i="1"/>
              <a:t>time pressure mitigation</a:t>
            </a:r>
            <a:r>
              <a:rPr lang="id-ID" sz="1600"/>
              <a:t>) terbukti secara ilmiah mampu menurunkan </a:t>
            </a:r>
            <a:r>
              <a:rPr lang="id-ID" sz="1600" i="1"/>
              <a:t>frustration level</a:t>
            </a:r>
            <a:r>
              <a:rPr lang="id-ID" sz="1600"/>
              <a:t> (dimensi kuesioner RTLX) secara signifikan.</a:t>
            </a:r>
          </a:p>
          <a:p>
            <a:r>
              <a:rPr lang="id-ID" sz="1600" b="1"/>
              <a:t>Optimalisasi Tipografi &amp; Kontras (</a:t>
            </a:r>
            <a:r>
              <a:rPr lang="id-ID" sz="1600" b="1" i="1"/>
              <a:t>Enhancement Layer</a:t>
            </a:r>
            <a:r>
              <a:rPr lang="id-ID" sz="1600" b="1"/>
              <a:t>):</a:t>
            </a:r>
            <a:r>
              <a:rPr lang="id-ID" sz="1600"/>
              <a:t> Ukuran teks judul dan harga produk diperbesar sebanyak </a:t>
            </a:r>
            <a:r>
              <a:rPr lang="id-ID" sz="1600" b="1"/>
              <a:t>+2pt hingga +4pt</a:t>
            </a:r>
            <a:r>
              <a:rPr lang="id-ID" sz="1600"/>
              <a:t> dari ukuran awal, disertai dengan peningkatan kontras warna (menggunakan warna biru pekat korporat yang tegas). Hal ini bertujuan untuk menurunkan </a:t>
            </a:r>
            <a:r>
              <a:rPr lang="id-ID" sz="1600" i="1"/>
              <a:t>intrinsic</a:t>
            </a:r>
            <a:r>
              <a:rPr lang="id-ID" sz="1600"/>
              <a:t> dan </a:t>
            </a:r>
            <a:r>
              <a:rPr lang="id-ID" sz="1600" i="1"/>
              <a:t>extraneous cognitive load</a:t>
            </a:r>
            <a:r>
              <a:rPr lang="id-ID" sz="1600"/>
              <a:t>, sehingga kapasitas memori kerja (</a:t>
            </a:r>
            <a:r>
              <a:rPr lang="id-ID" sz="1600" i="1"/>
              <a:t>working memory capacity</a:t>
            </a:r>
            <a:r>
              <a:rPr lang="id-ID" sz="1600"/>
              <a:t>) pengguna sepenuhnya fokus pada pemrosesan informasi utama (</a:t>
            </a:r>
            <a:r>
              <a:rPr lang="id-ID" sz="1600" i="1"/>
              <a:t>germane load</a:t>
            </a:r>
            <a:r>
              <a:rPr lang="id-ID" sz="1600"/>
              <a:t>).</a:t>
            </a:r>
          </a:p>
          <a:p>
            <a:r>
              <a:rPr lang="id-ID" sz="1600" b="1"/>
              <a:t>Hasil Akhir terhadap Pengguna:</a:t>
            </a:r>
            <a:r>
              <a:rPr lang="id-ID" sz="1600"/>
              <a:t> Dengan antarmuka yang bersih ini, pengguna dapat dengan mudah menemukan jawaban dari tugas navigasinya (misalnya mengonfirmasi kapasitas baterai 6000 mAh) tanpa terdistraksi. Luaran inilah yang akan membuktikan hipotesis </a:t>
            </a:r>
            <a:r>
              <a:rPr lang="id-ID" sz="1600" b="1"/>
              <a:t>H2</a:t>
            </a:r>
            <a:r>
              <a:rPr lang="id-ID" sz="1600"/>
              <a:t> (penurunan waktu penyelesaian tugas) dan </a:t>
            </a:r>
            <a:r>
              <a:rPr lang="id-ID" sz="1600" b="1"/>
              <a:t>H3</a:t>
            </a:r>
            <a:r>
              <a:rPr lang="id-ID" sz="1600"/>
              <a:t> (penurunan skor beban mental NASA-TLX) pada proposal penelitian Anda.</a:t>
            </a:r>
          </a:p>
        </p:txBody>
      </p:sp>
    </p:spTree>
    <p:extLst>
      <p:ext uri="{BB962C8B-B14F-4D97-AF65-F5344CB8AC3E}">
        <p14:creationId xmlns:p14="http://schemas.microsoft.com/office/powerpoint/2010/main" val="2121590373"/>
      </p:ext>
    </p:extLst>
  </p:cSld>
  <p:clrMapOvr>
    <a:masterClrMapping/>
  </p:clrMapOvr>
</p:sld>
</file>

<file path=ppt/theme/theme1.xml><?xml version="1.0" encoding="utf-8"?>
<a:theme xmlns:a="http://schemas.openxmlformats.org/drawingml/2006/main" name="Tema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TotalTime>
  <Words>1297</Words>
  <Application>Microsoft Office PowerPoint</Application>
  <PresentationFormat>Layar Lebar</PresentationFormat>
  <Paragraphs>61</Paragraphs>
  <Slides>11</Slides>
  <Notes>5</Notes>
  <HiddenSlides>0</HiddenSlides>
  <MMClips>0</MMClips>
  <ScaleCrop>false</ScaleCrop>
  <HeadingPairs>
    <vt:vector size="6" baseType="variant">
      <vt:variant>
        <vt:lpstr>Font Dipakai</vt:lpstr>
      </vt:variant>
      <vt:variant>
        <vt:i4>3</vt:i4>
      </vt:variant>
      <vt:variant>
        <vt:lpstr>Tema</vt:lpstr>
      </vt:variant>
      <vt:variant>
        <vt:i4>1</vt:i4>
      </vt:variant>
      <vt:variant>
        <vt:lpstr>Judul Slide</vt:lpstr>
      </vt:variant>
      <vt:variant>
        <vt:i4>11</vt:i4>
      </vt:variant>
    </vt:vector>
  </HeadingPairs>
  <TitlesOfParts>
    <vt:vector size="15" baseType="lpstr">
      <vt:lpstr>Aptos</vt:lpstr>
      <vt:lpstr>Aptos Display</vt:lpstr>
      <vt:lpstr>Arial</vt:lpstr>
      <vt:lpstr>Tema Office</vt:lpstr>
      <vt:lpstr>Sistem Antarmuka Generatif Adaptif Berbasis Komputasi Visi Sisi-Klien untuk Mitigasi Beban Kognitif secara Real-Time</vt:lpstr>
      <vt:lpstr>Mengapa WebCog-Net Diperlukan? </vt:lpstr>
      <vt:lpstr>Karakteristik Aplikasi &amp; Kontribusi Utama</vt:lpstr>
      <vt:lpstr>Skema Pengujian Within-Subjects</vt:lpstr>
      <vt:lpstr>Apa yang Harus Dikodekan</vt:lpstr>
      <vt:lpstr>Implementasi Jaringan WebCog-Net &amp; Optimasi Memori</vt:lpstr>
      <vt:lpstr>Alur Pemrosesan Data Real-Time (Closed-Loop)</vt:lpstr>
      <vt:lpstr>Prosedur Pengujian Aplikasi &amp; Analisis Statistik</vt:lpstr>
      <vt:lpstr>Presentasi PowerPoint</vt:lpstr>
      <vt:lpstr>Presentasi PowerPoint</vt:lpstr>
      <vt:lpstr>Analisis Transisi Intervensi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Rudy Hartanto</dc:creator>
  <cp:lastModifiedBy>Rudy Hartanto</cp:lastModifiedBy>
  <cp:revision>6</cp:revision>
  <dcterms:created xsi:type="dcterms:W3CDTF">2026-06-23T04:48:13Z</dcterms:created>
  <dcterms:modified xsi:type="dcterms:W3CDTF">2026-07-31T02:08:30Z</dcterms:modified>
</cp:coreProperties>
</file>